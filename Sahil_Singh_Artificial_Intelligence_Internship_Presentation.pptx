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097280"/>
            <a:ext cx="137160" cy="4663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005840"/>
            <a:ext cx="9601200" cy="4846320"/>
          </a:xfrm>
          <a:prstGeom prst="rect">
            <a:avLst/>
          </a:prstGeom>
          <a:noFill/>
        </p:spPr>
        <p:txBody>
          <a:bodyPr wrap="square">
            <a:spAutoFit/>
          </a:bodyPr>
          <a:lstStyle/>
          <a:p>
            <a:pPr>
              <a:spcAft>
                <a:spcPts val="1500"/>
              </a:spcAft>
              <a:defRPr sz="1400" b="1">
                <a:solidFill>
                  <a:srgbClr val="93C5FD"/>
                </a:solidFill>
              </a:defRPr>
            </a:pPr>
            <a:r>
              <a:t>IILM UNIVERSITY, GREATER NOIDA</a:t>
            </a:r>
          </a:p>
          <a:p>
            <a:pPr>
              <a:spcAft>
                <a:spcPts val="1000"/>
              </a:spcAft>
              <a:defRPr sz="3200" b="1">
                <a:solidFill>
                  <a:srgbClr val="FFFFFF"/>
                </a:solidFill>
              </a:defRPr>
            </a:pPr>
            <a:r>
              <a:t>INTERNSHIP REPORT PRESENTATION</a:t>
            </a:r>
          </a:p>
          <a:p>
            <a:pPr>
              <a:spcAft>
                <a:spcPts val="2500"/>
              </a:spcAft>
              <a:defRPr sz="2400" b="1">
                <a:solidFill>
                  <a:srgbClr val="2563EB"/>
                </a:solidFill>
              </a:defRPr>
            </a:pPr>
            <a:r>
              <a:t>Artificial Intelligence Internship</a:t>
            </a:r>
          </a:p>
          <a:p>
            <a:pPr>
              <a:spcAft>
                <a:spcPts val="3500"/>
              </a:spcAft>
              <a:defRPr sz="1300">
                <a:solidFill>
                  <a:srgbClr val="E2E8F0"/>
                </a:solidFill>
              </a:defRPr>
            </a:pPr>
            <a:r>
              <a:t>AICTE &amp; ICAC Approved Internship  |  Codec Technologies Pvt. Ltd.</a:t>
            </a:r>
          </a:p>
          <a:p>
            <a:pPr>
              <a:defRPr sz="2000" b="1">
                <a:solidFill>
                  <a:srgbClr val="FFFFFF"/>
                </a:solidFill>
              </a:defRPr>
            </a:pPr>
            <a:r>
              <a:t>Sahil Singh</a:t>
            </a:r>
          </a:p>
          <a:p>
            <a:pPr>
              <a:spcAft>
                <a:spcPts val="1500"/>
              </a:spcAft>
              <a:defRPr sz="1300">
                <a:solidFill>
                  <a:srgbClr val="94A3B8"/>
                </a:solidFill>
              </a:defRPr>
            </a:pPr>
            <a:r>
              <a:t>Roll No. 25SCS1003003669   |   B.Tech CSE</a:t>
            </a:r>
          </a:p>
          <a:p>
            <a:pPr>
              <a:defRPr sz="1200" b="1">
                <a:solidFill>
                  <a:srgbClr val="2563EB"/>
                </a:solidFill>
              </a:defRPr>
            </a:pPr>
            <a:r>
              <a:t>19 June – 19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82880"/>
          <a:lstStyle/>
          <a:p>
            <a:pPr algn="ctr">
              <a:defRPr sz="2200" b="1">
                <a:solidFill>
                  <a:srgbClr val="FFFFFF"/>
                </a:solidFill>
              </a:defRPr>
            </a:pPr>
            <a:r>
              <a:t>ABOUT THE STUDENT</a:t>
            </a:r>
          </a:p>
        </p:txBody>
      </p:sp>
      <p:sp>
        <p:nvSpPr>
          <p:cNvPr id="3" name="TextBox 2"/>
          <p:cNvSpPr txBox="1"/>
          <p:nvPr/>
        </p:nvSpPr>
        <p:spPr>
          <a:xfrm>
            <a:off x="7772400" y="182880"/>
            <a:ext cx="3840480" cy="640080"/>
          </a:xfrm>
          <a:prstGeom prst="rect">
            <a:avLst/>
          </a:prstGeom>
          <a:noFill/>
        </p:spPr>
        <p:txBody>
          <a:bodyPr wrap="none">
            <a:spAutoFit/>
          </a:bodyPr>
          <a:lstStyle/>
          <a:p>
            <a:pPr algn="r">
              <a:defRPr sz="1100" b="1">
                <a:solidFill>
                  <a:srgbClr val="BFDBFE"/>
                </a:solidFill>
              </a:defRPr>
            </a:pPr>
            <a:r>
              <a:t>IILM UNIVERSITY | CODEC TECHNOLOGIES</a:t>
            </a:r>
          </a:p>
        </p:txBody>
      </p:sp>
      <p:sp>
        <p:nvSpPr>
          <p:cNvPr id="4" name="Rectangle 3"/>
          <p:cNvSpPr/>
          <p:nvPr/>
        </p:nvSpPr>
        <p:spPr>
          <a:xfrm>
            <a:off x="731520" y="62179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63640"/>
            <a:ext cx="7315200" cy="365760"/>
          </a:xfrm>
          <a:prstGeom prst="rect">
            <a:avLst/>
          </a:prstGeom>
          <a:noFill/>
        </p:spPr>
        <p:txBody>
          <a:bodyPr wrap="none">
            <a:spAutoFit/>
          </a:bodyPr>
          <a:lstStyle/>
          <a:p>
            <a:pPr>
              <a:defRPr sz="1000">
                <a:solidFill>
                  <a:srgbClr val="64748B"/>
                </a:solidFill>
              </a:defRPr>
            </a:pPr>
            <a:r>
              <a:t>Artificial Intelligence Internship  •  Sahil Singh</a:t>
            </a:r>
          </a:p>
        </p:txBody>
      </p:sp>
      <p:sp>
        <p:nvSpPr>
          <p:cNvPr id="6" name="TextBox 5"/>
          <p:cNvSpPr txBox="1"/>
          <p:nvPr/>
        </p:nvSpPr>
        <p:spPr>
          <a:xfrm>
            <a:off x="9631375" y="6263640"/>
            <a:ext cx="1828800" cy="365760"/>
          </a:xfrm>
          <a:prstGeom prst="rect">
            <a:avLst/>
          </a:prstGeom>
          <a:noFill/>
        </p:spPr>
        <p:txBody>
          <a:bodyPr wrap="none">
            <a:spAutoFit/>
          </a:bodyPr>
          <a:lstStyle/>
          <a:p>
            <a:pPr algn="r">
              <a:defRPr sz="1000" b="1">
                <a:solidFill>
                  <a:srgbClr val="2563EB"/>
                </a:solidFill>
              </a:defRPr>
            </a:pPr>
            <a:r>
              <a:t>02</a:t>
            </a:r>
          </a:p>
        </p:txBody>
      </p:sp>
      <p:sp>
        <p:nvSpPr>
          <p:cNvPr id="7" name="Rounded Rectangle 6"/>
          <p:cNvSpPr/>
          <p:nvPr/>
        </p:nvSpPr>
        <p:spPr>
          <a:xfrm>
            <a:off x="731520" y="1280160"/>
            <a:ext cx="34747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920240" y="1645920"/>
            <a:ext cx="1097280" cy="10972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FFFFFF"/>
                </a:solidFill>
              </a:defRPr>
            </a:pPr>
            <a:r>
              <a:t>SS</a:t>
            </a:r>
          </a:p>
        </p:txBody>
      </p:sp>
      <p:sp>
        <p:nvSpPr>
          <p:cNvPr id="9" name="TextBox 8"/>
          <p:cNvSpPr txBox="1"/>
          <p:nvPr/>
        </p:nvSpPr>
        <p:spPr>
          <a:xfrm>
            <a:off x="822960" y="2926080"/>
            <a:ext cx="3291840" cy="2743200"/>
          </a:xfrm>
          <a:prstGeom prst="rect">
            <a:avLst/>
          </a:prstGeom>
          <a:noFill/>
        </p:spPr>
        <p:txBody>
          <a:bodyPr wrap="square">
            <a:spAutoFit/>
          </a:bodyPr>
          <a:lstStyle/>
          <a:p>
            <a:pPr algn="ctr">
              <a:defRPr sz="2000" b="1">
                <a:solidFill>
                  <a:srgbClr val="0F172A"/>
                </a:solidFill>
              </a:defRPr>
            </a:pPr>
            <a:r>
              <a:t>Sahil Singh</a:t>
            </a:r>
          </a:p>
          <a:p>
            <a:pPr algn="ctr">
              <a:spcAft>
                <a:spcPts val="2000"/>
              </a:spcAft>
              <a:defRPr sz="1100">
                <a:solidFill>
                  <a:srgbClr val="64748B"/>
                </a:solidFill>
              </a:defRPr>
            </a:pPr>
            <a:r>
              <a:t>B.Tech – Computer Science &amp; Engineering</a:t>
            </a:r>
          </a:p>
          <a:p>
            <a:pPr algn="ctr">
              <a:defRPr sz="1000">
                <a:solidFill>
                  <a:srgbClr val="1E3A8A"/>
                </a:solidFill>
              </a:defRPr>
            </a:pPr>
            <a:r>
              <a:t>School of Computer Science &amp; Engineering</a:t>
            </a:r>
            <a:br/>
            <a:r>
              <a:t>IILM University, Greater Noida</a:t>
            </a:r>
          </a:p>
        </p:txBody>
      </p:sp>
      <p:sp>
        <p:nvSpPr>
          <p:cNvPr id="10" name="Rounded Rectangle 9"/>
          <p:cNvSpPr/>
          <p:nvPr/>
        </p:nvSpPr>
        <p:spPr>
          <a:xfrm>
            <a:off x="4480560" y="1280160"/>
            <a:ext cx="694944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1463040"/>
            <a:ext cx="6400800" cy="4297680"/>
          </a:xfrm>
          <a:prstGeom prst="rect">
            <a:avLst/>
          </a:prstGeom>
          <a:noFill/>
        </p:spPr>
        <p:txBody>
          <a:bodyPr wrap="square">
            <a:spAutoFit/>
          </a:bodyPr>
          <a:lstStyle/>
          <a:p>
            <a:pPr>
              <a:spcAft>
                <a:spcPts val="2000"/>
              </a:spcAft>
              <a:defRPr sz="1400" b="1">
                <a:solidFill>
                  <a:srgbClr val="2563EB"/>
                </a:solidFill>
              </a:defRPr>
            </a:pPr>
            <a:r>
              <a:t>CANDIDATE PROFILE</a:t>
            </a:r>
          </a:p>
          <a:p>
            <a:pPr>
              <a:spcAft>
                <a:spcPts val="1000"/>
              </a:spcAft>
              <a:defRPr b="1" sz="1200">
                <a:solidFill>
                  <a:srgbClr val="0F172A"/>
                </a:solidFill>
              </a:defRPr>
            </a:pPr>
            <a:r>
              <a:t>•  Student Name: </a:t>
            </a:r>
            <a:r>
              <a:rPr b="0">
                <a:solidFill>
                  <a:srgbClr val="1E3A8A"/>
                </a:solidFill>
              </a:rPr>
              <a:t>Sahil Singh</a:t>
            </a:r>
          </a:p>
          <a:p>
            <a:pPr>
              <a:spcAft>
                <a:spcPts val="1000"/>
              </a:spcAft>
              <a:defRPr b="1" sz="1200">
                <a:solidFill>
                  <a:srgbClr val="0F172A"/>
                </a:solidFill>
              </a:defRPr>
            </a:pPr>
            <a:r>
              <a:t>•  Roll Number: </a:t>
            </a:r>
            <a:r>
              <a:rPr b="0">
                <a:solidFill>
                  <a:srgbClr val="1E3A8A"/>
                </a:solidFill>
              </a:rPr>
              <a:t>25SCS1003003669</a:t>
            </a:r>
          </a:p>
          <a:p>
            <a:pPr>
              <a:spcAft>
                <a:spcPts val="1000"/>
              </a:spcAft>
              <a:defRPr b="1" sz="1200">
                <a:solidFill>
                  <a:srgbClr val="0F172A"/>
                </a:solidFill>
              </a:defRPr>
            </a:pPr>
            <a:r>
              <a:t>•  Institute: </a:t>
            </a:r>
            <a:r>
              <a:rPr b="0">
                <a:solidFill>
                  <a:srgbClr val="1E3A8A"/>
                </a:solidFill>
              </a:rPr>
              <a:t>IILM University, Greater Noida, U.P.</a:t>
            </a:r>
          </a:p>
          <a:p>
            <a:pPr>
              <a:spcAft>
                <a:spcPts val="1000"/>
              </a:spcAft>
              <a:defRPr b="1" sz="1200">
                <a:solidFill>
                  <a:srgbClr val="0F172A"/>
                </a:solidFill>
              </a:defRPr>
            </a:pPr>
            <a:r>
              <a:t>•  Programme: </a:t>
            </a:r>
            <a:r>
              <a:rPr b="0">
                <a:solidFill>
                  <a:srgbClr val="1E3A8A"/>
                </a:solidFill>
              </a:rPr>
              <a:t>B.Tech CSE, Batch 2026–27</a:t>
            </a:r>
          </a:p>
          <a:p>
            <a:pPr>
              <a:spcAft>
                <a:spcPts val="1000"/>
              </a:spcAft>
              <a:defRPr b="1" sz="1200">
                <a:solidFill>
                  <a:srgbClr val="0F172A"/>
                </a:solidFill>
              </a:defRPr>
            </a:pPr>
            <a:r>
              <a:t>•  Internship Domain: </a:t>
            </a:r>
            <a:r>
              <a:rPr b="0">
                <a:solidFill>
                  <a:srgbClr val="1E3A8A"/>
                </a:solidFill>
              </a:rPr>
              <a:t>Artificial Intelligence</a:t>
            </a:r>
          </a:p>
          <a:p>
            <a:pPr>
              <a:spcAft>
                <a:spcPts val="1000"/>
              </a:spcAft>
              <a:defRPr b="1" sz="1200">
                <a:solidFill>
                  <a:srgbClr val="0F172A"/>
                </a:solidFill>
              </a:defRPr>
            </a:pPr>
            <a:r>
              <a:t>•  Organization: </a:t>
            </a:r>
            <a:r>
              <a:rPr b="0">
                <a:solidFill>
                  <a:srgbClr val="1E3A8A"/>
                </a:solidFill>
              </a:rPr>
              <a:t>Codec Technologies Pvt. Ltd.</a:t>
            </a:r>
          </a:p>
          <a:p>
            <a:pPr>
              <a:spcAft>
                <a:spcPts val="1000"/>
              </a:spcAft>
              <a:defRPr b="1" sz="1200">
                <a:solidFill>
                  <a:srgbClr val="0F172A"/>
                </a:solidFill>
              </a:defRPr>
            </a:pPr>
            <a:r>
              <a:t>•  Duration: </a:t>
            </a:r>
            <a:r>
              <a:rPr b="0">
                <a:solidFill>
                  <a:srgbClr val="1E3A8A"/>
                </a:solidFill>
              </a:rPr>
              <a:t>1 Month | 19/06/2026 – 19/07/2026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82880"/>
          <a:lstStyle/>
          <a:p>
            <a:pPr algn="ctr">
              <a:defRPr sz="2200" b="1">
                <a:solidFill>
                  <a:srgbClr val="FFFFFF"/>
                </a:solidFill>
              </a:defRPr>
            </a:pPr>
            <a:r>
              <a:t>ABOUT THE INTERNSHIP</a:t>
            </a:r>
          </a:p>
        </p:txBody>
      </p:sp>
      <p:sp>
        <p:nvSpPr>
          <p:cNvPr id="3" name="TextBox 2"/>
          <p:cNvSpPr txBox="1"/>
          <p:nvPr/>
        </p:nvSpPr>
        <p:spPr>
          <a:xfrm>
            <a:off x="7772400" y="182880"/>
            <a:ext cx="3840480" cy="640080"/>
          </a:xfrm>
          <a:prstGeom prst="rect">
            <a:avLst/>
          </a:prstGeom>
          <a:noFill/>
        </p:spPr>
        <p:txBody>
          <a:bodyPr wrap="none">
            <a:spAutoFit/>
          </a:bodyPr>
          <a:lstStyle/>
          <a:p>
            <a:pPr algn="r">
              <a:defRPr sz="1100" b="1">
                <a:solidFill>
                  <a:srgbClr val="BFDBFE"/>
                </a:solidFill>
              </a:defRPr>
            </a:pPr>
            <a:r>
              <a:t>IILM UNIVERSITY | CODEC TECHNOLOGIES</a:t>
            </a:r>
          </a:p>
        </p:txBody>
      </p:sp>
      <p:sp>
        <p:nvSpPr>
          <p:cNvPr id="4" name="Rectangle 3"/>
          <p:cNvSpPr/>
          <p:nvPr/>
        </p:nvSpPr>
        <p:spPr>
          <a:xfrm>
            <a:off x="731520" y="62179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63640"/>
            <a:ext cx="7315200" cy="365760"/>
          </a:xfrm>
          <a:prstGeom prst="rect">
            <a:avLst/>
          </a:prstGeom>
          <a:noFill/>
        </p:spPr>
        <p:txBody>
          <a:bodyPr wrap="none">
            <a:spAutoFit/>
          </a:bodyPr>
          <a:lstStyle/>
          <a:p>
            <a:pPr>
              <a:defRPr sz="1000">
                <a:solidFill>
                  <a:srgbClr val="64748B"/>
                </a:solidFill>
              </a:defRPr>
            </a:pPr>
            <a:r>
              <a:t>Artificial Intelligence Internship  •  Sahil Singh</a:t>
            </a:r>
          </a:p>
        </p:txBody>
      </p:sp>
      <p:sp>
        <p:nvSpPr>
          <p:cNvPr id="6" name="TextBox 5"/>
          <p:cNvSpPr txBox="1"/>
          <p:nvPr/>
        </p:nvSpPr>
        <p:spPr>
          <a:xfrm>
            <a:off x="9631375" y="6263640"/>
            <a:ext cx="1828800" cy="365760"/>
          </a:xfrm>
          <a:prstGeom prst="rect">
            <a:avLst/>
          </a:prstGeom>
          <a:noFill/>
        </p:spPr>
        <p:txBody>
          <a:bodyPr wrap="none">
            <a:spAutoFit/>
          </a:bodyPr>
          <a:lstStyle/>
          <a:p>
            <a:pPr algn="r">
              <a:defRPr sz="1000" b="1">
                <a:solidFill>
                  <a:srgbClr val="2563EB"/>
                </a:solidFill>
              </a:defRPr>
            </a:pPr>
            <a:r>
              <a:t>03</a:t>
            </a:r>
          </a:p>
        </p:txBody>
      </p:sp>
      <p:sp>
        <p:nvSpPr>
          <p:cNvPr id="7" name="Rounded Rectangle 6"/>
          <p:cNvSpPr/>
          <p:nvPr/>
        </p:nvSpPr>
        <p:spPr>
          <a:xfrm>
            <a:off x="731520" y="1280160"/>
            <a:ext cx="10728655" cy="1645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371600"/>
            <a:ext cx="10180015" cy="1463040"/>
          </a:xfrm>
          <a:prstGeom prst="rect">
            <a:avLst/>
          </a:prstGeom>
          <a:noFill/>
        </p:spPr>
        <p:txBody>
          <a:bodyPr wrap="square">
            <a:spAutoFit/>
          </a:bodyPr>
          <a:lstStyle/>
          <a:p>
            <a:pPr>
              <a:spcAft>
                <a:spcPts val="800"/>
              </a:spcAft>
              <a:defRPr sz="1600" b="1">
                <a:solidFill>
                  <a:srgbClr val="1E3A8A"/>
                </a:solidFill>
              </a:defRPr>
            </a:pPr>
            <a:r>
              <a:t>Codec Technologies Pvt. Ltd.</a:t>
            </a:r>
          </a:p>
          <a:p>
            <a:pPr>
              <a:defRPr sz="1200">
                <a:solidFill>
                  <a:srgbClr val="0F172A"/>
                </a:solidFill>
              </a:defRPr>
            </a:pPr>
            <a:r>
              <a:t>The internship at Codec Technologies Pvt. Ltd. provided professional exposure in Artificial Intelligence. It was conducted in hybrid mode across India and involved assigned project and training tasks, weekly performance reviews, and industry-oriented practical exposure.</a:t>
            </a:r>
          </a:p>
        </p:txBody>
      </p:sp>
      <p:sp>
        <p:nvSpPr>
          <p:cNvPr id="9" name="Rounded Rectangle 8"/>
          <p:cNvSpPr/>
          <p:nvPr/>
        </p:nvSpPr>
        <p:spPr>
          <a:xfrm>
            <a:off x="731520" y="3200400"/>
            <a:ext cx="3328416"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83280"/>
            <a:ext cx="2962656" cy="2377440"/>
          </a:xfrm>
          <a:prstGeom prst="rect">
            <a:avLst/>
          </a:prstGeom>
          <a:noFill/>
        </p:spPr>
        <p:txBody>
          <a:bodyPr wrap="square">
            <a:spAutoFit/>
          </a:bodyPr>
          <a:lstStyle/>
          <a:p>
            <a:pPr>
              <a:spcAft>
                <a:spcPts val="600"/>
              </a:spcAft>
              <a:defRPr sz="1400" b="1">
                <a:solidFill>
                  <a:srgbClr val="2563EB"/>
                </a:solidFill>
              </a:defRPr>
            </a:pPr>
            <a:r>
              <a:t>Internship Mode</a:t>
            </a:r>
          </a:p>
          <a:p>
            <a:pPr>
              <a:spcAft>
                <a:spcPts val="1000"/>
              </a:spcAft>
              <a:defRPr sz="1200" b="1">
                <a:solidFill>
                  <a:srgbClr val="1E3A8A"/>
                </a:solidFill>
              </a:defRPr>
            </a:pPr>
            <a:r>
              <a:t>Pan India, Hybrid Mode</a:t>
            </a:r>
          </a:p>
          <a:p>
            <a:pPr>
              <a:defRPr sz="1050">
                <a:solidFill>
                  <a:srgbClr val="64748B"/>
                </a:solidFill>
              </a:defRPr>
            </a:pPr>
            <a:r>
              <a:t>Flexible working environment with platform and email communication for assigned tasks.</a:t>
            </a:r>
          </a:p>
        </p:txBody>
      </p:sp>
      <p:sp>
        <p:nvSpPr>
          <p:cNvPr id="11" name="Rounded Rectangle 10"/>
          <p:cNvSpPr/>
          <p:nvPr/>
        </p:nvSpPr>
        <p:spPr>
          <a:xfrm>
            <a:off x="4425696" y="3200400"/>
            <a:ext cx="3328416"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3383280"/>
            <a:ext cx="2962656" cy="2377440"/>
          </a:xfrm>
          <a:prstGeom prst="rect">
            <a:avLst/>
          </a:prstGeom>
          <a:noFill/>
        </p:spPr>
        <p:txBody>
          <a:bodyPr wrap="square">
            <a:spAutoFit/>
          </a:bodyPr>
          <a:lstStyle/>
          <a:p>
            <a:pPr>
              <a:spcAft>
                <a:spcPts val="600"/>
              </a:spcAft>
              <a:defRPr sz="1400" b="1">
                <a:solidFill>
                  <a:srgbClr val="2563EB"/>
                </a:solidFill>
              </a:defRPr>
            </a:pPr>
            <a:r>
              <a:t>Designation</a:t>
            </a:r>
          </a:p>
          <a:p>
            <a:pPr>
              <a:spcAft>
                <a:spcPts val="1000"/>
              </a:spcAft>
              <a:defRPr sz="1200" b="1">
                <a:solidFill>
                  <a:srgbClr val="1E3A8A"/>
                </a:solidFill>
              </a:defRPr>
            </a:pPr>
            <a:r>
              <a:t>Artificial Intelligence Intern</a:t>
            </a:r>
          </a:p>
          <a:p>
            <a:pPr>
              <a:defRPr sz="1050">
                <a:solidFill>
                  <a:srgbClr val="64748B"/>
                </a:solidFill>
              </a:defRPr>
            </a:pPr>
            <a:r>
              <a:t>Engaged in AI project tasks, training modules, data analysis, and model evaluation workflows.</a:t>
            </a:r>
          </a:p>
        </p:txBody>
      </p:sp>
      <p:sp>
        <p:nvSpPr>
          <p:cNvPr id="13" name="Rounded Rectangle 12"/>
          <p:cNvSpPr/>
          <p:nvPr/>
        </p:nvSpPr>
        <p:spPr>
          <a:xfrm>
            <a:off x="8119872" y="3200400"/>
            <a:ext cx="3328416"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3383280"/>
            <a:ext cx="2962656" cy="2377440"/>
          </a:xfrm>
          <a:prstGeom prst="rect">
            <a:avLst/>
          </a:prstGeom>
          <a:noFill/>
        </p:spPr>
        <p:txBody>
          <a:bodyPr wrap="square">
            <a:spAutoFit/>
          </a:bodyPr>
          <a:lstStyle/>
          <a:p>
            <a:pPr>
              <a:spcAft>
                <a:spcPts val="600"/>
              </a:spcAft>
              <a:defRPr sz="1400" b="1">
                <a:solidFill>
                  <a:srgbClr val="2563EB"/>
                </a:solidFill>
              </a:defRPr>
            </a:pPr>
            <a:r>
              <a:t>Internship Duration</a:t>
            </a:r>
          </a:p>
          <a:p>
            <a:pPr>
              <a:spcAft>
                <a:spcPts val="1000"/>
              </a:spcAft>
              <a:defRPr sz="1200" b="1">
                <a:solidFill>
                  <a:srgbClr val="1E3A8A"/>
                </a:solidFill>
              </a:defRPr>
            </a:pPr>
            <a:r>
              <a:t>19/06/2026 – 19/07/2026</a:t>
            </a:r>
          </a:p>
          <a:p>
            <a:pPr>
              <a:defRPr sz="1050">
                <a:solidFill>
                  <a:srgbClr val="64748B"/>
                </a:solidFill>
              </a:defRPr>
            </a:pPr>
            <a:r>
              <a:t>1 Month duration under AICTE &amp; ICAC approved internship guidelines.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82880"/>
          <a:lstStyle/>
          <a:p>
            <a:pPr algn="ctr">
              <a:defRPr sz="2200" b="1">
                <a:solidFill>
                  <a:srgbClr val="FFFFFF"/>
                </a:solidFill>
              </a:defRPr>
            </a:pPr>
            <a:r>
              <a:t>PROBLEM STATEMENT</a:t>
            </a:r>
          </a:p>
        </p:txBody>
      </p:sp>
      <p:sp>
        <p:nvSpPr>
          <p:cNvPr id="3" name="TextBox 2"/>
          <p:cNvSpPr txBox="1"/>
          <p:nvPr/>
        </p:nvSpPr>
        <p:spPr>
          <a:xfrm>
            <a:off x="7772400" y="182880"/>
            <a:ext cx="3840480" cy="640080"/>
          </a:xfrm>
          <a:prstGeom prst="rect">
            <a:avLst/>
          </a:prstGeom>
          <a:noFill/>
        </p:spPr>
        <p:txBody>
          <a:bodyPr wrap="none">
            <a:spAutoFit/>
          </a:bodyPr>
          <a:lstStyle/>
          <a:p>
            <a:pPr algn="r">
              <a:defRPr sz="1100" b="1">
                <a:solidFill>
                  <a:srgbClr val="BFDBFE"/>
                </a:solidFill>
              </a:defRPr>
            </a:pPr>
            <a:r>
              <a:t>IILM UNIVERSITY | CODEC TECHNOLOGIES</a:t>
            </a:r>
          </a:p>
        </p:txBody>
      </p:sp>
      <p:sp>
        <p:nvSpPr>
          <p:cNvPr id="4" name="Rectangle 3"/>
          <p:cNvSpPr/>
          <p:nvPr/>
        </p:nvSpPr>
        <p:spPr>
          <a:xfrm>
            <a:off x="731520" y="62179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63640"/>
            <a:ext cx="7315200" cy="365760"/>
          </a:xfrm>
          <a:prstGeom prst="rect">
            <a:avLst/>
          </a:prstGeom>
          <a:noFill/>
        </p:spPr>
        <p:txBody>
          <a:bodyPr wrap="none">
            <a:spAutoFit/>
          </a:bodyPr>
          <a:lstStyle/>
          <a:p>
            <a:pPr>
              <a:defRPr sz="1000">
                <a:solidFill>
                  <a:srgbClr val="64748B"/>
                </a:solidFill>
              </a:defRPr>
            </a:pPr>
            <a:r>
              <a:t>Artificial Intelligence Internship  •  Sahil Singh</a:t>
            </a:r>
          </a:p>
        </p:txBody>
      </p:sp>
      <p:sp>
        <p:nvSpPr>
          <p:cNvPr id="6" name="TextBox 5"/>
          <p:cNvSpPr txBox="1"/>
          <p:nvPr/>
        </p:nvSpPr>
        <p:spPr>
          <a:xfrm>
            <a:off x="9631375" y="6263640"/>
            <a:ext cx="1828800" cy="365760"/>
          </a:xfrm>
          <a:prstGeom prst="rect">
            <a:avLst/>
          </a:prstGeom>
          <a:noFill/>
        </p:spPr>
        <p:txBody>
          <a:bodyPr wrap="none">
            <a:spAutoFit/>
          </a:bodyPr>
          <a:lstStyle/>
          <a:p>
            <a:pPr algn="r">
              <a:defRPr sz="1000" b="1">
                <a:solidFill>
                  <a:srgbClr val="2563EB"/>
                </a:solidFill>
              </a:defRPr>
            </a:pPr>
            <a:r>
              <a:t>04</a:t>
            </a:r>
          </a:p>
        </p:txBody>
      </p:sp>
      <p:sp>
        <p:nvSpPr>
          <p:cNvPr id="7" name="Rounded Rectangle 6"/>
          <p:cNvSpPr/>
          <p:nvPr/>
        </p:nvSpPr>
        <p:spPr>
          <a:xfrm>
            <a:off x="731520" y="1280160"/>
            <a:ext cx="10728655"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371600"/>
            <a:ext cx="10180015" cy="1463040"/>
          </a:xfrm>
          <a:prstGeom prst="rect">
            <a:avLst/>
          </a:prstGeom>
          <a:noFill/>
        </p:spPr>
        <p:txBody>
          <a:bodyPr wrap="square">
            <a:spAutoFit/>
          </a:bodyPr>
          <a:lstStyle/>
          <a:p>
            <a:pPr>
              <a:spcAft>
                <a:spcPts val="800"/>
              </a:spcAft>
              <a:defRPr sz="1600" b="1">
                <a:solidFill>
                  <a:srgbClr val="2563EB"/>
                </a:solidFill>
              </a:defRPr>
            </a:pPr>
            <a:r>
              <a:t>From Theory to an Industry-Oriented Artificial Intelligence Workflow</a:t>
            </a:r>
          </a:p>
          <a:p>
            <a:pPr>
              <a:defRPr sz="1200">
                <a:solidFill>
                  <a:srgbClr val="0F172A"/>
                </a:solidFill>
              </a:defRPr>
            </a:pPr>
            <a:r>
              <a:t>The internship addressed how to translate theoretical Computer Science knowledge into a structured, industry-oriented AI workflow: defining task objectives, analyzing input data quality, selecting appropriate conceptual approaches, executing development/training tasks, evaluating model performance, and documenting outcomes.</a:t>
            </a:r>
          </a:p>
        </p:txBody>
      </p:sp>
      <p:sp>
        <p:nvSpPr>
          <p:cNvPr id="9" name="TextBox 8"/>
          <p:cNvSpPr txBox="1"/>
          <p:nvPr/>
        </p:nvSpPr>
        <p:spPr>
          <a:xfrm>
            <a:off x="731520" y="3108960"/>
            <a:ext cx="10728655" cy="365760"/>
          </a:xfrm>
          <a:prstGeom prst="rect">
            <a:avLst/>
          </a:prstGeom>
          <a:noFill/>
        </p:spPr>
        <p:txBody>
          <a:bodyPr wrap="none">
            <a:spAutoFit/>
          </a:bodyPr>
          <a:lstStyle/>
          <a:p>
            <a:pPr>
              <a:defRPr sz="1300" b="1">
                <a:solidFill>
                  <a:srgbClr val="1E3A8A"/>
                </a:solidFill>
              </a:defRPr>
            </a:pPr>
            <a:r>
              <a:t>CONCEPTUAL ARTIFICIAL INTELLIGENCE WORKFLOW:</a:t>
            </a:r>
          </a:p>
        </p:txBody>
      </p:sp>
      <p:sp>
        <p:nvSpPr>
          <p:cNvPr id="10" name="Rounded Rectangle 9"/>
          <p:cNvSpPr/>
          <p:nvPr/>
        </p:nvSpPr>
        <p:spPr>
          <a:xfrm>
            <a:off x="731520" y="3657600"/>
            <a:ext cx="1627632" cy="2286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749039"/>
            <a:ext cx="1444752" cy="2103120"/>
          </a:xfrm>
          <a:prstGeom prst="rect">
            <a:avLst/>
          </a:prstGeom>
          <a:noFill/>
        </p:spPr>
        <p:txBody>
          <a:bodyPr wrap="square">
            <a:spAutoFit/>
          </a:bodyPr>
          <a:lstStyle/>
          <a:p>
            <a:pPr>
              <a:spcAft>
                <a:spcPts val="800"/>
              </a:spcAft>
              <a:defRPr sz="1100" b="1">
                <a:solidFill>
                  <a:srgbClr val="1E3A8A"/>
                </a:solidFill>
              </a:defRPr>
            </a:pPr>
            <a:r>
              <a:t>1. Problem Definition</a:t>
            </a:r>
          </a:p>
          <a:p>
            <a:pPr>
              <a:defRPr sz="950">
                <a:solidFill>
                  <a:srgbClr val="0F172A"/>
                </a:solidFill>
              </a:defRPr>
            </a:pPr>
            <a:r>
              <a:t>Identify objective &amp; constraints</a:t>
            </a:r>
          </a:p>
        </p:txBody>
      </p:sp>
      <p:sp>
        <p:nvSpPr>
          <p:cNvPr id="12" name="Rounded Rectangle 11"/>
          <p:cNvSpPr/>
          <p:nvPr/>
        </p:nvSpPr>
        <p:spPr>
          <a:xfrm>
            <a:off x="2551176" y="3657600"/>
            <a:ext cx="1627632"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42616" y="3749039"/>
            <a:ext cx="1444752" cy="2103120"/>
          </a:xfrm>
          <a:prstGeom prst="rect">
            <a:avLst/>
          </a:prstGeom>
          <a:noFill/>
        </p:spPr>
        <p:txBody>
          <a:bodyPr wrap="square">
            <a:spAutoFit/>
          </a:bodyPr>
          <a:lstStyle/>
          <a:p>
            <a:pPr>
              <a:spcAft>
                <a:spcPts val="800"/>
              </a:spcAft>
              <a:defRPr sz="1100" b="1">
                <a:solidFill>
                  <a:srgbClr val="1E3A8A"/>
                </a:solidFill>
              </a:defRPr>
            </a:pPr>
            <a:r>
              <a:t>2. Data Understanding</a:t>
            </a:r>
          </a:p>
          <a:p>
            <a:pPr>
              <a:defRPr sz="950">
                <a:solidFill>
                  <a:srgbClr val="0F172A"/>
                </a:solidFill>
              </a:defRPr>
            </a:pPr>
            <a:r>
              <a:t>Review inputs &amp; data quality</a:t>
            </a:r>
          </a:p>
        </p:txBody>
      </p:sp>
      <p:sp>
        <p:nvSpPr>
          <p:cNvPr id="14" name="Rounded Rectangle 13"/>
          <p:cNvSpPr/>
          <p:nvPr/>
        </p:nvSpPr>
        <p:spPr>
          <a:xfrm>
            <a:off x="4370832" y="3657600"/>
            <a:ext cx="1627632" cy="2286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3749039"/>
            <a:ext cx="1444752" cy="2103120"/>
          </a:xfrm>
          <a:prstGeom prst="rect">
            <a:avLst/>
          </a:prstGeom>
          <a:noFill/>
        </p:spPr>
        <p:txBody>
          <a:bodyPr wrap="square">
            <a:spAutoFit/>
          </a:bodyPr>
          <a:lstStyle/>
          <a:p>
            <a:pPr>
              <a:spcAft>
                <a:spcPts val="800"/>
              </a:spcAft>
              <a:defRPr sz="1100" b="1">
                <a:solidFill>
                  <a:srgbClr val="1E3A8A"/>
                </a:solidFill>
              </a:defRPr>
            </a:pPr>
            <a:r>
              <a:t>3. Approach Planning</a:t>
            </a:r>
          </a:p>
          <a:p>
            <a:pPr>
              <a:defRPr sz="950">
                <a:solidFill>
                  <a:srgbClr val="0F172A"/>
                </a:solidFill>
              </a:defRPr>
            </a:pPr>
            <a:r>
              <a:t>Select conceptual approach</a:t>
            </a:r>
          </a:p>
        </p:txBody>
      </p:sp>
      <p:sp>
        <p:nvSpPr>
          <p:cNvPr id="16" name="Rounded Rectangle 15"/>
          <p:cNvSpPr/>
          <p:nvPr/>
        </p:nvSpPr>
        <p:spPr>
          <a:xfrm>
            <a:off x="6190488" y="3657600"/>
            <a:ext cx="1627632"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81927" y="3749039"/>
            <a:ext cx="1444752" cy="2103120"/>
          </a:xfrm>
          <a:prstGeom prst="rect">
            <a:avLst/>
          </a:prstGeom>
          <a:noFill/>
        </p:spPr>
        <p:txBody>
          <a:bodyPr wrap="square">
            <a:spAutoFit/>
          </a:bodyPr>
          <a:lstStyle/>
          <a:p>
            <a:pPr>
              <a:spcAft>
                <a:spcPts val="800"/>
              </a:spcAft>
              <a:defRPr sz="1100" b="1">
                <a:solidFill>
                  <a:srgbClr val="1E3A8A"/>
                </a:solidFill>
              </a:defRPr>
            </a:pPr>
            <a:r>
              <a:t>4. Development</a:t>
            </a:r>
          </a:p>
          <a:p>
            <a:pPr>
              <a:defRPr sz="950">
                <a:solidFill>
                  <a:srgbClr val="0F172A"/>
                </a:solidFill>
              </a:defRPr>
            </a:pPr>
            <a:r>
              <a:t>Execute AI tasks &amp; training</a:t>
            </a:r>
          </a:p>
        </p:txBody>
      </p:sp>
      <p:sp>
        <p:nvSpPr>
          <p:cNvPr id="18" name="Rounded Rectangle 17"/>
          <p:cNvSpPr/>
          <p:nvPr/>
        </p:nvSpPr>
        <p:spPr>
          <a:xfrm>
            <a:off x="8010144" y="3657600"/>
            <a:ext cx="1627632" cy="22860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3" y="3749039"/>
            <a:ext cx="1444752" cy="2103120"/>
          </a:xfrm>
          <a:prstGeom prst="rect">
            <a:avLst/>
          </a:prstGeom>
          <a:noFill/>
        </p:spPr>
        <p:txBody>
          <a:bodyPr wrap="square">
            <a:spAutoFit/>
          </a:bodyPr>
          <a:lstStyle/>
          <a:p>
            <a:pPr>
              <a:spcAft>
                <a:spcPts val="800"/>
              </a:spcAft>
              <a:defRPr sz="1100" b="1">
                <a:solidFill>
                  <a:srgbClr val="1E3A8A"/>
                </a:solidFill>
              </a:defRPr>
            </a:pPr>
            <a:r>
              <a:t>5. Evaluation</a:t>
            </a:r>
          </a:p>
          <a:p>
            <a:pPr>
              <a:defRPr sz="950">
                <a:solidFill>
                  <a:srgbClr val="0F172A"/>
                </a:solidFill>
              </a:defRPr>
            </a:pPr>
            <a:r>
              <a:t>Test outputs &amp; analyze errors</a:t>
            </a:r>
          </a:p>
        </p:txBody>
      </p:sp>
      <p:sp>
        <p:nvSpPr>
          <p:cNvPr id="20" name="Rounded Rectangle 19"/>
          <p:cNvSpPr/>
          <p:nvPr/>
        </p:nvSpPr>
        <p:spPr>
          <a:xfrm>
            <a:off x="9829800" y="3657600"/>
            <a:ext cx="1627632"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21240" y="3749039"/>
            <a:ext cx="1444752" cy="2103120"/>
          </a:xfrm>
          <a:prstGeom prst="rect">
            <a:avLst/>
          </a:prstGeom>
          <a:noFill/>
        </p:spPr>
        <p:txBody>
          <a:bodyPr wrap="square">
            <a:spAutoFit/>
          </a:bodyPr>
          <a:lstStyle/>
          <a:p>
            <a:pPr>
              <a:spcAft>
                <a:spcPts val="800"/>
              </a:spcAft>
              <a:defRPr sz="1100" b="1">
                <a:solidFill>
                  <a:srgbClr val="1E3A8A"/>
                </a:solidFill>
              </a:defRPr>
            </a:pPr>
            <a:r>
              <a:t>6. Documentation</a:t>
            </a:r>
          </a:p>
          <a:p>
            <a:pPr>
              <a:defRPr sz="950">
                <a:solidFill>
                  <a:srgbClr val="0F172A"/>
                </a:solidFill>
              </a:defRPr>
            </a:pPr>
            <a:r>
              <a:t>Record findings &amp; iteration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82880"/>
          <a:lstStyle/>
          <a:p>
            <a:pPr algn="ctr">
              <a:defRPr sz="2200" b="1">
                <a:solidFill>
                  <a:srgbClr val="FFFFFF"/>
                </a:solidFill>
              </a:defRPr>
            </a:pPr>
            <a:r>
              <a:t>PROJECT OBJECTIVES</a:t>
            </a:r>
          </a:p>
        </p:txBody>
      </p:sp>
      <p:sp>
        <p:nvSpPr>
          <p:cNvPr id="3" name="TextBox 2"/>
          <p:cNvSpPr txBox="1"/>
          <p:nvPr/>
        </p:nvSpPr>
        <p:spPr>
          <a:xfrm>
            <a:off x="7772400" y="182880"/>
            <a:ext cx="3840480" cy="640080"/>
          </a:xfrm>
          <a:prstGeom prst="rect">
            <a:avLst/>
          </a:prstGeom>
          <a:noFill/>
        </p:spPr>
        <p:txBody>
          <a:bodyPr wrap="none">
            <a:spAutoFit/>
          </a:bodyPr>
          <a:lstStyle/>
          <a:p>
            <a:pPr algn="r">
              <a:defRPr sz="1100" b="1">
                <a:solidFill>
                  <a:srgbClr val="BFDBFE"/>
                </a:solidFill>
              </a:defRPr>
            </a:pPr>
            <a:r>
              <a:t>IILM UNIVERSITY | CODEC TECHNOLOGIES</a:t>
            </a:r>
          </a:p>
        </p:txBody>
      </p:sp>
      <p:sp>
        <p:nvSpPr>
          <p:cNvPr id="4" name="Rectangle 3"/>
          <p:cNvSpPr/>
          <p:nvPr/>
        </p:nvSpPr>
        <p:spPr>
          <a:xfrm>
            <a:off x="731520" y="62179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63640"/>
            <a:ext cx="7315200" cy="365760"/>
          </a:xfrm>
          <a:prstGeom prst="rect">
            <a:avLst/>
          </a:prstGeom>
          <a:noFill/>
        </p:spPr>
        <p:txBody>
          <a:bodyPr wrap="none">
            <a:spAutoFit/>
          </a:bodyPr>
          <a:lstStyle/>
          <a:p>
            <a:pPr>
              <a:defRPr sz="1000">
                <a:solidFill>
                  <a:srgbClr val="64748B"/>
                </a:solidFill>
              </a:defRPr>
            </a:pPr>
            <a:r>
              <a:t>Artificial Intelligence Internship  •  Sahil Singh</a:t>
            </a:r>
          </a:p>
        </p:txBody>
      </p:sp>
      <p:sp>
        <p:nvSpPr>
          <p:cNvPr id="6" name="TextBox 5"/>
          <p:cNvSpPr txBox="1"/>
          <p:nvPr/>
        </p:nvSpPr>
        <p:spPr>
          <a:xfrm>
            <a:off x="9631375" y="6263640"/>
            <a:ext cx="1828800" cy="365760"/>
          </a:xfrm>
          <a:prstGeom prst="rect">
            <a:avLst/>
          </a:prstGeom>
          <a:noFill/>
        </p:spPr>
        <p:txBody>
          <a:bodyPr wrap="none">
            <a:spAutoFit/>
          </a:bodyPr>
          <a:lstStyle/>
          <a:p>
            <a:pPr algn="r">
              <a:defRPr sz="1000" b="1">
                <a:solidFill>
                  <a:srgbClr val="2563EB"/>
                </a:solidFill>
              </a:defRPr>
            </a:pPr>
            <a:r>
              <a:t>05</a:t>
            </a:r>
          </a:p>
        </p:txBody>
      </p:sp>
      <p:sp>
        <p:nvSpPr>
          <p:cNvPr id="7" name="Rounded Rectangle 6"/>
          <p:cNvSpPr/>
          <p:nvPr/>
        </p:nvSpPr>
        <p:spPr>
          <a:xfrm>
            <a:off x="731520" y="1371600"/>
            <a:ext cx="3328416"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91440" cy="2103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508760"/>
            <a:ext cx="3008376" cy="1828799"/>
          </a:xfrm>
          <a:prstGeom prst="rect">
            <a:avLst/>
          </a:prstGeom>
          <a:noFill/>
        </p:spPr>
        <p:txBody>
          <a:bodyPr wrap="square">
            <a:spAutoFit/>
          </a:bodyPr>
          <a:lstStyle/>
          <a:p>
            <a:pPr>
              <a:spcAft>
                <a:spcPts val="800"/>
              </a:spcAft>
              <a:defRPr sz="1300" b="1">
                <a:solidFill>
                  <a:srgbClr val="1E3A8A"/>
                </a:solidFill>
              </a:defRPr>
            </a:pPr>
            <a:r>
              <a:t>AI Fundamentals</a:t>
            </a:r>
          </a:p>
          <a:p>
            <a:pPr>
              <a:defRPr sz="1000">
                <a:solidFill>
                  <a:srgbClr val="0F172A"/>
                </a:solidFill>
              </a:defRPr>
            </a:pPr>
            <a:r>
              <a:t>Understand the practical relevance and core fundamentals of Artificial Intelligence in industry.</a:t>
            </a:r>
          </a:p>
        </p:txBody>
      </p:sp>
      <p:sp>
        <p:nvSpPr>
          <p:cNvPr id="10" name="Rounded Rectangle 9"/>
          <p:cNvSpPr/>
          <p:nvPr/>
        </p:nvSpPr>
        <p:spPr>
          <a:xfrm>
            <a:off x="4425696" y="1371600"/>
            <a:ext cx="3328416"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25696" y="1371600"/>
            <a:ext cx="91440" cy="2103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54296" y="1508760"/>
            <a:ext cx="3008376" cy="1828799"/>
          </a:xfrm>
          <a:prstGeom prst="rect">
            <a:avLst/>
          </a:prstGeom>
          <a:noFill/>
        </p:spPr>
        <p:txBody>
          <a:bodyPr wrap="square">
            <a:spAutoFit/>
          </a:bodyPr>
          <a:lstStyle/>
          <a:p>
            <a:pPr>
              <a:spcAft>
                <a:spcPts val="800"/>
              </a:spcAft>
              <a:defRPr sz="1300" b="1">
                <a:solidFill>
                  <a:srgbClr val="1E3A8A"/>
                </a:solidFill>
              </a:defRPr>
            </a:pPr>
            <a:r>
              <a:t>Industry-Oriented Approach</a:t>
            </a:r>
          </a:p>
          <a:p>
            <a:pPr>
              <a:defRPr sz="1000">
                <a:solidFill>
                  <a:srgbClr val="0F172A"/>
                </a:solidFill>
              </a:defRPr>
            </a:pPr>
            <a:r>
              <a:t>Develop an industry-oriented mindset for analyzing AI tasks, data patterns, and solutions.</a:t>
            </a:r>
          </a:p>
        </p:txBody>
      </p:sp>
      <p:sp>
        <p:nvSpPr>
          <p:cNvPr id="13" name="Rounded Rectangle 12"/>
          <p:cNvSpPr/>
          <p:nvPr/>
        </p:nvSpPr>
        <p:spPr>
          <a:xfrm>
            <a:off x="8119872" y="1371600"/>
            <a:ext cx="3328416"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1371600"/>
            <a:ext cx="91440" cy="2103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48472" y="1508760"/>
            <a:ext cx="3008376" cy="1828799"/>
          </a:xfrm>
          <a:prstGeom prst="rect">
            <a:avLst/>
          </a:prstGeom>
          <a:noFill/>
        </p:spPr>
        <p:txBody>
          <a:bodyPr wrap="square">
            <a:spAutoFit/>
          </a:bodyPr>
          <a:lstStyle/>
          <a:p>
            <a:pPr>
              <a:spcAft>
                <a:spcPts val="800"/>
              </a:spcAft>
              <a:defRPr sz="1300" b="1">
                <a:solidFill>
                  <a:srgbClr val="1E3A8A"/>
                </a:solidFill>
              </a:defRPr>
            </a:pPr>
            <a:r>
              <a:t>Structured AI Workflow</a:t>
            </a:r>
          </a:p>
          <a:p>
            <a:pPr>
              <a:defRPr sz="1000">
                <a:solidFill>
                  <a:srgbClr val="0F172A"/>
                </a:solidFill>
              </a:defRPr>
            </a:pPr>
            <a:r>
              <a:t>Understand typical AI workflow stages, from problem definition and data handling to evaluation.</a:t>
            </a:r>
          </a:p>
        </p:txBody>
      </p:sp>
      <p:sp>
        <p:nvSpPr>
          <p:cNvPr id="16" name="Rounded Rectangle 15"/>
          <p:cNvSpPr/>
          <p:nvPr/>
        </p:nvSpPr>
        <p:spPr>
          <a:xfrm>
            <a:off x="731520" y="3749039"/>
            <a:ext cx="3328416"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749039"/>
            <a:ext cx="91440" cy="2103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886200"/>
            <a:ext cx="3008376" cy="1828799"/>
          </a:xfrm>
          <a:prstGeom prst="rect">
            <a:avLst/>
          </a:prstGeom>
          <a:noFill/>
        </p:spPr>
        <p:txBody>
          <a:bodyPr wrap="square">
            <a:spAutoFit/>
          </a:bodyPr>
          <a:lstStyle/>
          <a:p>
            <a:pPr>
              <a:spcAft>
                <a:spcPts val="800"/>
              </a:spcAft>
              <a:defRPr sz="1300" b="1">
                <a:solidFill>
                  <a:srgbClr val="1E3A8A"/>
                </a:solidFill>
              </a:defRPr>
            </a:pPr>
            <a:r>
              <a:t>Analytical &amp; Communication</a:t>
            </a:r>
          </a:p>
          <a:p>
            <a:pPr>
              <a:defRPr sz="1000">
                <a:solidFill>
                  <a:srgbClr val="0F172A"/>
                </a:solidFill>
              </a:defRPr>
            </a:pPr>
            <a:r>
              <a:t>Improve analytical thinking, technical communication, documentation, and professional discipline.</a:t>
            </a:r>
          </a:p>
        </p:txBody>
      </p:sp>
      <p:sp>
        <p:nvSpPr>
          <p:cNvPr id="19" name="Rounded Rectangle 18"/>
          <p:cNvSpPr/>
          <p:nvPr/>
        </p:nvSpPr>
        <p:spPr>
          <a:xfrm>
            <a:off x="4425696" y="3749039"/>
            <a:ext cx="3328416"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3749039"/>
            <a:ext cx="91440" cy="2103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54296" y="3886200"/>
            <a:ext cx="3008376" cy="1828799"/>
          </a:xfrm>
          <a:prstGeom prst="rect">
            <a:avLst/>
          </a:prstGeom>
          <a:noFill/>
        </p:spPr>
        <p:txBody>
          <a:bodyPr wrap="square">
            <a:spAutoFit/>
          </a:bodyPr>
          <a:lstStyle/>
          <a:p>
            <a:pPr>
              <a:spcAft>
                <a:spcPts val="800"/>
              </a:spcAft>
              <a:defRPr sz="1300" b="1">
                <a:solidFill>
                  <a:srgbClr val="1E3A8A"/>
                </a:solidFill>
              </a:defRPr>
            </a:pPr>
            <a:r>
              <a:t>Practical Exposure</a:t>
            </a:r>
          </a:p>
          <a:p>
            <a:pPr>
              <a:defRPr sz="1000">
                <a:solidFill>
                  <a:srgbClr val="0F172A"/>
                </a:solidFill>
              </a:defRPr>
            </a:pPr>
            <a:r>
              <a:t>Gain practical exposure through assigned AI training modules and project-related activities.</a:t>
            </a:r>
          </a:p>
        </p:txBody>
      </p:sp>
      <p:sp>
        <p:nvSpPr>
          <p:cNvPr id="22" name="Rounded Rectangle 21"/>
          <p:cNvSpPr/>
          <p:nvPr/>
        </p:nvSpPr>
        <p:spPr>
          <a:xfrm>
            <a:off x="8119872" y="3749039"/>
            <a:ext cx="3328416"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19872" y="3749039"/>
            <a:ext cx="91440" cy="2103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8472" y="3886200"/>
            <a:ext cx="3008376" cy="1828799"/>
          </a:xfrm>
          <a:prstGeom prst="rect">
            <a:avLst/>
          </a:prstGeom>
          <a:noFill/>
        </p:spPr>
        <p:txBody>
          <a:bodyPr wrap="square">
            <a:spAutoFit/>
          </a:bodyPr>
          <a:lstStyle/>
          <a:p>
            <a:pPr>
              <a:spcAft>
                <a:spcPts val="800"/>
              </a:spcAft>
              <a:defRPr sz="1300" b="1">
                <a:solidFill>
                  <a:srgbClr val="1E3A8A"/>
                </a:solidFill>
              </a:defRPr>
            </a:pPr>
            <a:r>
              <a:t>Academic-to-Professional</a:t>
            </a:r>
          </a:p>
          <a:p>
            <a:pPr>
              <a:defRPr sz="1000">
                <a:solidFill>
                  <a:srgbClr val="0F172A"/>
                </a:solidFill>
              </a:defRPr>
            </a:pPr>
            <a:r>
              <a:t>Connect academic Computer Science knowledge with professional AI practice and workflows.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82880"/>
          <a:lstStyle/>
          <a:p>
            <a:pPr algn="ctr">
              <a:defRPr sz="2200" b="1">
                <a:solidFill>
                  <a:srgbClr val="FFFFFF"/>
                </a:solidFill>
              </a:defRPr>
            </a:pPr>
            <a:r>
              <a:t>TECHNOLOGIES &amp; AI CONCEPTS</a:t>
            </a:r>
          </a:p>
        </p:txBody>
      </p:sp>
      <p:sp>
        <p:nvSpPr>
          <p:cNvPr id="3" name="TextBox 2"/>
          <p:cNvSpPr txBox="1"/>
          <p:nvPr/>
        </p:nvSpPr>
        <p:spPr>
          <a:xfrm>
            <a:off x="7772400" y="182880"/>
            <a:ext cx="3840480" cy="640080"/>
          </a:xfrm>
          <a:prstGeom prst="rect">
            <a:avLst/>
          </a:prstGeom>
          <a:noFill/>
        </p:spPr>
        <p:txBody>
          <a:bodyPr wrap="none">
            <a:spAutoFit/>
          </a:bodyPr>
          <a:lstStyle/>
          <a:p>
            <a:pPr algn="r">
              <a:defRPr sz="1100" b="1">
                <a:solidFill>
                  <a:srgbClr val="BFDBFE"/>
                </a:solidFill>
              </a:defRPr>
            </a:pPr>
            <a:r>
              <a:t>IILM UNIVERSITY | CODEC TECHNOLOGIES</a:t>
            </a:r>
          </a:p>
        </p:txBody>
      </p:sp>
      <p:sp>
        <p:nvSpPr>
          <p:cNvPr id="4" name="Rectangle 3"/>
          <p:cNvSpPr/>
          <p:nvPr/>
        </p:nvSpPr>
        <p:spPr>
          <a:xfrm>
            <a:off x="731520" y="62179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63640"/>
            <a:ext cx="7315200" cy="365760"/>
          </a:xfrm>
          <a:prstGeom prst="rect">
            <a:avLst/>
          </a:prstGeom>
          <a:noFill/>
        </p:spPr>
        <p:txBody>
          <a:bodyPr wrap="none">
            <a:spAutoFit/>
          </a:bodyPr>
          <a:lstStyle/>
          <a:p>
            <a:pPr>
              <a:defRPr sz="1000">
                <a:solidFill>
                  <a:srgbClr val="64748B"/>
                </a:solidFill>
              </a:defRPr>
            </a:pPr>
            <a:r>
              <a:t>Artificial Intelligence Internship  •  Sahil Singh</a:t>
            </a:r>
          </a:p>
        </p:txBody>
      </p:sp>
      <p:sp>
        <p:nvSpPr>
          <p:cNvPr id="6" name="TextBox 5"/>
          <p:cNvSpPr txBox="1"/>
          <p:nvPr/>
        </p:nvSpPr>
        <p:spPr>
          <a:xfrm>
            <a:off x="9631375" y="6263640"/>
            <a:ext cx="1828800" cy="365760"/>
          </a:xfrm>
          <a:prstGeom prst="rect">
            <a:avLst/>
          </a:prstGeom>
          <a:noFill/>
        </p:spPr>
        <p:txBody>
          <a:bodyPr wrap="none">
            <a:spAutoFit/>
          </a:bodyPr>
          <a:lstStyle/>
          <a:p>
            <a:pPr algn="r">
              <a:defRPr sz="1000" b="1">
                <a:solidFill>
                  <a:srgbClr val="2563EB"/>
                </a:solidFill>
              </a:defRPr>
            </a:pPr>
            <a:r>
              <a:t>06</a:t>
            </a:r>
          </a:p>
        </p:txBody>
      </p:sp>
      <p:sp>
        <p:nvSpPr>
          <p:cNvPr id="7" name="Rounded Rectangle 6"/>
          <p:cNvSpPr/>
          <p:nvPr/>
        </p:nvSpPr>
        <p:spPr>
          <a:xfrm>
            <a:off x="731520" y="1280160"/>
            <a:ext cx="51206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4754880" cy="868680"/>
          </a:xfrm>
          <a:prstGeom prst="rect">
            <a:avLst/>
          </a:prstGeom>
          <a:noFill/>
        </p:spPr>
        <p:txBody>
          <a:bodyPr wrap="square">
            <a:spAutoFit/>
          </a:bodyPr>
          <a:lstStyle/>
          <a:p>
            <a:pPr>
              <a:spcAft>
                <a:spcPts val="400"/>
              </a:spcAft>
              <a:defRPr sz="1200" b="1">
                <a:solidFill>
                  <a:srgbClr val="2563EB"/>
                </a:solidFill>
              </a:defRPr>
            </a:pPr>
            <a:r>
              <a:t>AI Problem Definition</a:t>
            </a:r>
          </a:p>
          <a:p>
            <a:pPr>
              <a:defRPr sz="950">
                <a:solidFill>
                  <a:srgbClr val="0F172A"/>
                </a:solidFill>
              </a:defRPr>
            </a:pPr>
            <a:r>
              <a:t>Understanding AI problem statements and clearly defining expected outcomes.</a:t>
            </a:r>
          </a:p>
        </p:txBody>
      </p:sp>
      <p:sp>
        <p:nvSpPr>
          <p:cNvPr id="9" name="Rounded Rectangle 8"/>
          <p:cNvSpPr/>
          <p:nvPr/>
        </p:nvSpPr>
        <p:spPr>
          <a:xfrm>
            <a:off x="731520" y="2468880"/>
            <a:ext cx="51206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60320"/>
            <a:ext cx="4754880" cy="868680"/>
          </a:xfrm>
          <a:prstGeom prst="rect">
            <a:avLst/>
          </a:prstGeom>
          <a:noFill/>
        </p:spPr>
        <p:txBody>
          <a:bodyPr wrap="square">
            <a:spAutoFit/>
          </a:bodyPr>
          <a:lstStyle/>
          <a:p>
            <a:pPr>
              <a:spcAft>
                <a:spcPts val="400"/>
              </a:spcAft>
              <a:defRPr sz="1200" b="1">
                <a:solidFill>
                  <a:srgbClr val="2563EB"/>
                </a:solidFill>
              </a:defRPr>
            </a:pPr>
            <a:r>
              <a:t>Data-Oriented Thinking</a:t>
            </a:r>
          </a:p>
          <a:p>
            <a:pPr>
              <a:defRPr sz="950">
                <a:solidFill>
                  <a:srgbClr val="0F172A"/>
                </a:solidFill>
              </a:defRPr>
            </a:pPr>
            <a:r>
              <a:t>Understanding inputs, outputs, patterns, data preprocessing, and quality.</a:t>
            </a:r>
          </a:p>
        </p:txBody>
      </p:sp>
      <p:sp>
        <p:nvSpPr>
          <p:cNvPr id="11" name="Rounded Rectangle 10"/>
          <p:cNvSpPr/>
          <p:nvPr/>
        </p:nvSpPr>
        <p:spPr>
          <a:xfrm>
            <a:off x="731520" y="3657600"/>
            <a:ext cx="51206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749039"/>
            <a:ext cx="4754880" cy="868680"/>
          </a:xfrm>
          <a:prstGeom prst="rect">
            <a:avLst/>
          </a:prstGeom>
          <a:noFill/>
        </p:spPr>
        <p:txBody>
          <a:bodyPr wrap="square">
            <a:spAutoFit/>
          </a:bodyPr>
          <a:lstStyle/>
          <a:p>
            <a:pPr>
              <a:spcAft>
                <a:spcPts val="400"/>
              </a:spcAft>
              <a:defRPr sz="1200" b="1">
                <a:solidFill>
                  <a:srgbClr val="2563EB"/>
                </a:solidFill>
              </a:defRPr>
            </a:pPr>
            <a:r>
              <a:t>Model-Oriented Thinking</a:t>
            </a:r>
          </a:p>
          <a:p>
            <a:pPr>
              <a:defRPr sz="950">
                <a:solidFill>
                  <a:srgbClr val="0F172A"/>
                </a:solidFill>
              </a:defRPr>
            </a:pPr>
            <a:r>
              <a:t>Understanding how AI models learn from data to support decision-making.</a:t>
            </a:r>
          </a:p>
        </p:txBody>
      </p:sp>
      <p:sp>
        <p:nvSpPr>
          <p:cNvPr id="13" name="Rounded Rectangle 12"/>
          <p:cNvSpPr/>
          <p:nvPr/>
        </p:nvSpPr>
        <p:spPr>
          <a:xfrm>
            <a:off x="731520" y="4846320"/>
            <a:ext cx="512064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937760"/>
            <a:ext cx="4754880" cy="868680"/>
          </a:xfrm>
          <a:prstGeom prst="rect">
            <a:avLst/>
          </a:prstGeom>
          <a:noFill/>
        </p:spPr>
        <p:txBody>
          <a:bodyPr wrap="square">
            <a:spAutoFit/>
          </a:bodyPr>
          <a:lstStyle/>
          <a:p>
            <a:pPr>
              <a:spcAft>
                <a:spcPts val="400"/>
              </a:spcAft>
              <a:defRPr sz="1200" b="1">
                <a:solidFill>
                  <a:srgbClr val="2563EB"/>
                </a:solidFill>
              </a:defRPr>
            </a:pPr>
            <a:r>
              <a:t>Evaluation &amp; Iteration</a:t>
            </a:r>
          </a:p>
          <a:p>
            <a:pPr>
              <a:defRPr sz="950">
                <a:solidFill>
                  <a:srgbClr val="0F172A"/>
                </a:solidFill>
              </a:defRPr>
            </a:pPr>
            <a:r>
              <a:t>Testing outputs against task objectives, identifying errors, and refining methods.</a:t>
            </a:r>
          </a:p>
        </p:txBody>
      </p:sp>
      <p:sp>
        <p:nvSpPr>
          <p:cNvPr id="15" name="Rounded Rectangle 14"/>
          <p:cNvSpPr/>
          <p:nvPr/>
        </p:nvSpPr>
        <p:spPr>
          <a:xfrm>
            <a:off x="6339535" y="1280160"/>
            <a:ext cx="5120640" cy="105156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2415" y="1371600"/>
            <a:ext cx="4754880" cy="868680"/>
          </a:xfrm>
          <a:prstGeom prst="rect">
            <a:avLst/>
          </a:prstGeom>
          <a:noFill/>
        </p:spPr>
        <p:txBody>
          <a:bodyPr wrap="square">
            <a:spAutoFit/>
          </a:bodyPr>
          <a:lstStyle/>
          <a:p>
            <a:pPr>
              <a:spcAft>
                <a:spcPts val="400"/>
              </a:spcAft>
              <a:defRPr sz="1200" b="1">
                <a:solidFill>
                  <a:srgbClr val="1E3A8A"/>
                </a:solidFill>
              </a:defRPr>
            </a:pPr>
            <a:r>
              <a:t>Validation &amp; Documentation</a:t>
            </a:r>
          </a:p>
          <a:p>
            <a:pPr>
              <a:defRPr sz="950">
                <a:solidFill>
                  <a:srgbClr val="0F172A"/>
                </a:solidFill>
              </a:defRPr>
            </a:pPr>
            <a:r>
              <a:t>Documenting methods, experimental observations, limitations, and key outcomes.</a:t>
            </a:r>
          </a:p>
        </p:txBody>
      </p:sp>
      <p:sp>
        <p:nvSpPr>
          <p:cNvPr id="17" name="Rounded Rectangle 16"/>
          <p:cNvSpPr/>
          <p:nvPr/>
        </p:nvSpPr>
        <p:spPr>
          <a:xfrm>
            <a:off x="6339535" y="2468880"/>
            <a:ext cx="5120640" cy="105156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22415" y="2560320"/>
            <a:ext cx="4754880" cy="868680"/>
          </a:xfrm>
          <a:prstGeom prst="rect">
            <a:avLst/>
          </a:prstGeom>
          <a:noFill/>
        </p:spPr>
        <p:txBody>
          <a:bodyPr wrap="square">
            <a:spAutoFit/>
          </a:bodyPr>
          <a:lstStyle/>
          <a:p>
            <a:pPr>
              <a:spcAft>
                <a:spcPts val="400"/>
              </a:spcAft>
              <a:defRPr sz="1200" b="1">
                <a:solidFill>
                  <a:srgbClr val="1E3A8A"/>
                </a:solidFill>
              </a:defRPr>
            </a:pPr>
            <a:r>
              <a:t>Responsible AI Practice</a:t>
            </a:r>
          </a:p>
          <a:p>
            <a:pPr>
              <a:defRPr sz="950">
                <a:solidFill>
                  <a:srgbClr val="0F172A"/>
                </a:solidFill>
              </a:defRPr>
            </a:pPr>
            <a:r>
              <a:t>Focus on data quality, fairness, transparency, and awareness of model limitations.</a:t>
            </a:r>
          </a:p>
        </p:txBody>
      </p:sp>
      <p:sp>
        <p:nvSpPr>
          <p:cNvPr id="19" name="Rounded Rectangle 18"/>
          <p:cNvSpPr/>
          <p:nvPr/>
        </p:nvSpPr>
        <p:spPr>
          <a:xfrm>
            <a:off x="6339535" y="3657600"/>
            <a:ext cx="5120640" cy="105156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22415" y="3749039"/>
            <a:ext cx="4754880" cy="868680"/>
          </a:xfrm>
          <a:prstGeom prst="rect">
            <a:avLst/>
          </a:prstGeom>
          <a:noFill/>
        </p:spPr>
        <p:txBody>
          <a:bodyPr wrap="square">
            <a:spAutoFit/>
          </a:bodyPr>
          <a:lstStyle/>
          <a:p>
            <a:pPr>
              <a:spcAft>
                <a:spcPts val="400"/>
              </a:spcAft>
              <a:defRPr sz="1200" b="1">
                <a:solidFill>
                  <a:srgbClr val="1E3A8A"/>
                </a:solidFill>
              </a:defRPr>
            </a:pPr>
            <a:r>
              <a:t>Professional AI Practice</a:t>
            </a:r>
          </a:p>
          <a:p>
            <a:pPr>
              <a:defRPr sz="950">
                <a:solidFill>
                  <a:srgbClr val="0F172A"/>
                </a:solidFill>
              </a:defRPr>
            </a:pPr>
            <a:r>
              <a:t>Pan India hybrid working &amp; assigned project/training tasks with supervisor reviews.</a:t>
            </a:r>
          </a:p>
        </p:txBody>
      </p:sp>
      <p:sp>
        <p:nvSpPr>
          <p:cNvPr id="21" name="Rounded Rectangle 20"/>
          <p:cNvSpPr/>
          <p:nvPr/>
        </p:nvSpPr>
        <p:spPr>
          <a:xfrm>
            <a:off x="6339535" y="4846320"/>
            <a:ext cx="5120640" cy="105156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2415" y="4937760"/>
            <a:ext cx="4754880" cy="868680"/>
          </a:xfrm>
          <a:prstGeom prst="rect">
            <a:avLst/>
          </a:prstGeom>
          <a:noFill/>
        </p:spPr>
        <p:txBody>
          <a:bodyPr wrap="square">
            <a:spAutoFit/>
          </a:bodyPr>
          <a:lstStyle/>
          <a:p>
            <a:pPr>
              <a:spcAft>
                <a:spcPts val="400"/>
              </a:spcAft>
              <a:defRPr sz="1200" b="1">
                <a:solidFill>
                  <a:srgbClr val="1E3A8A"/>
                </a:solidFill>
              </a:defRPr>
            </a:pPr>
            <a:r>
              <a:t>Documented Scope</a:t>
            </a:r>
          </a:p>
          <a:p>
            <a:pPr>
              <a:defRPr sz="950">
                <a:solidFill>
                  <a:srgbClr val="0F172A"/>
                </a:solidFill>
              </a:defRPr>
            </a:pPr>
            <a:r>
              <a:t>Focus on core AI principles and workflows rather than proprietary technology stack.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82880"/>
          <a:lstStyle/>
          <a:p>
            <a:pPr algn="ctr">
              <a:defRPr sz="2200" b="1">
                <a:solidFill>
                  <a:srgbClr val="FFFFFF"/>
                </a:solidFill>
              </a:defRPr>
            </a:pPr>
            <a:r>
              <a:t>METHODOLOGY</a:t>
            </a:r>
          </a:p>
        </p:txBody>
      </p:sp>
      <p:sp>
        <p:nvSpPr>
          <p:cNvPr id="3" name="TextBox 2"/>
          <p:cNvSpPr txBox="1"/>
          <p:nvPr/>
        </p:nvSpPr>
        <p:spPr>
          <a:xfrm>
            <a:off x="7772400" y="182880"/>
            <a:ext cx="3840480" cy="640080"/>
          </a:xfrm>
          <a:prstGeom prst="rect">
            <a:avLst/>
          </a:prstGeom>
          <a:noFill/>
        </p:spPr>
        <p:txBody>
          <a:bodyPr wrap="none">
            <a:spAutoFit/>
          </a:bodyPr>
          <a:lstStyle/>
          <a:p>
            <a:pPr algn="r">
              <a:defRPr sz="1100" b="1">
                <a:solidFill>
                  <a:srgbClr val="BFDBFE"/>
                </a:solidFill>
              </a:defRPr>
            </a:pPr>
            <a:r>
              <a:t>IILM UNIVERSITY | CODEC TECHNOLOGIES</a:t>
            </a:r>
          </a:p>
        </p:txBody>
      </p:sp>
      <p:sp>
        <p:nvSpPr>
          <p:cNvPr id="4" name="Rectangle 3"/>
          <p:cNvSpPr/>
          <p:nvPr/>
        </p:nvSpPr>
        <p:spPr>
          <a:xfrm>
            <a:off x="731520" y="62179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63640"/>
            <a:ext cx="7315200" cy="365760"/>
          </a:xfrm>
          <a:prstGeom prst="rect">
            <a:avLst/>
          </a:prstGeom>
          <a:noFill/>
        </p:spPr>
        <p:txBody>
          <a:bodyPr wrap="none">
            <a:spAutoFit/>
          </a:bodyPr>
          <a:lstStyle/>
          <a:p>
            <a:pPr>
              <a:defRPr sz="1000">
                <a:solidFill>
                  <a:srgbClr val="64748B"/>
                </a:solidFill>
              </a:defRPr>
            </a:pPr>
            <a:r>
              <a:t>Artificial Intelligence Internship  •  Sahil Singh</a:t>
            </a:r>
          </a:p>
        </p:txBody>
      </p:sp>
      <p:sp>
        <p:nvSpPr>
          <p:cNvPr id="6" name="TextBox 5"/>
          <p:cNvSpPr txBox="1"/>
          <p:nvPr/>
        </p:nvSpPr>
        <p:spPr>
          <a:xfrm>
            <a:off x="9631375" y="6263640"/>
            <a:ext cx="1828800" cy="365760"/>
          </a:xfrm>
          <a:prstGeom prst="rect">
            <a:avLst/>
          </a:prstGeom>
          <a:noFill/>
        </p:spPr>
        <p:txBody>
          <a:bodyPr wrap="none">
            <a:spAutoFit/>
          </a:bodyPr>
          <a:lstStyle/>
          <a:p>
            <a:pPr algn="r">
              <a:defRPr sz="1000" b="1">
                <a:solidFill>
                  <a:srgbClr val="2563EB"/>
                </a:solidFill>
              </a:defRPr>
            </a:pPr>
            <a:r>
              <a:t>07</a:t>
            </a:r>
          </a:p>
        </p:txBody>
      </p:sp>
      <p:sp>
        <p:nvSpPr>
          <p:cNvPr id="7" name="Rounded Rectangle 6"/>
          <p:cNvSpPr/>
          <p:nvPr/>
        </p:nvSpPr>
        <p:spPr>
          <a:xfrm>
            <a:off x="731520" y="1371600"/>
            <a:ext cx="527243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1554480"/>
            <a:ext cx="100584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Stage 1</a:t>
            </a:r>
          </a:p>
        </p:txBody>
      </p:sp>
      <p:sp>
        <p:nvSpPr>
          <p:cNvPr id="9" name="TextBox 8"/>
          <p:cNvSpPr txBox="1"/>
          <p:nvPr/>
        </p:nvSpPr>
        <p:spPr>
          <a:xfrm>
            <a:off x="2011680" y="1508760"/>
            <a:ext cx="3749039" cy="1097280"/>
          </a:xfrm>
          <a:prstGeom prst="rect">
            <a:avLst/>
          </a:prstGeom>
          <a:noFill/>
        </p:spPr>
        <p:txBody>
          <a:bodyPr wrap="square">
            <a:spAutoFit/>
          </a:bodyPr>
          <a:lstStyle/>
          <a:p>
            <a:pPr>
              <a:spcAft>
                <a:spcPts val="400"/>
              </a:spcAft>
              <a:defRPr sz="1200" b="1">
                <a:solidFill>
                  <a:srgbClr val="1E3A8A"/>
                </a:solidFill>
              </a:defRPr>
            </a:pPr>
            <a:r>
              <a:t>Problem Understanding</a:t>
            </a:r>
          </a:p>
          <a:p>
            <a:pPr>
              <a:defRPr sz="950">
                <a:solidFill>
                  <a:srgbClr val="0F172A"/>
                </a:solidFill>
              </a:defRPr>
            </a:pPr>
            <a:r>
              <a:t>Identify the objective, expected output, constraints, and task instructions.</a:t>
            </a:r>
          </a:p>
        </p:txBody>
      </p:sp>
      <p:sp>
        <p:nvSpPr>
          <p:cNvPr id="10" name="Rounded Rectangle 9"/>
          <p:cNvSpPr/>
          <p:nvPr/>
        </p:nvSpPr>
        <p:spPr>
          <a:xfrm>
            <a:off x="6186830" y="1371600"/>
            <a:ext cx="527243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69710" y="1554480"/>
            <a:ext cx="100584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Stage 2</a:t>
            </a:r>
          </a:p>
        </p:txBody>
      </p:sp>
      <p:sp>
        <p:nvSpPr>
          <p:cNvPr id="12" name="TextBox 11"/>
          <p:cNvSpPr txBox="1"/>
          <p:nvPr/>
        </p:nvSpPr>
        <p:spPr>
          <a:xfrm>
            <a:off x="7466990" y="1508760"/>
            <a:ext cx="3749039" cy="1097280"/>
          </a:xfrm>
          <a:prstGeom prst="rect">
            <a:avLst/>
          </a:prstGeom>
          <a:noFill/>
        </p:spPr>
        <p:txBody>
          <a:bodyPr wrap="square">
            <a:spAutoFit/>
          </a:bodyPr>
          <a:lstStyle/>
          <a:p>
            <a:pPr>
              <a:spcAft>
                <a:spcPts val="400"/>
              </a:spcAft>
              <a:defRPr sz="1200" b="1">
                <a:solidFill>
                  <a:srgbClr val="1E3A8A"/>
                </a:solidFill>
              </a:defRPr>
            </a:pPr>
            <a:r>
              <a:t>Data / Input Understanding</a:t>
            </a:r>
          </a:p>
          <a:p>
            <a:pPr>
              <a:defRPr sz="950">
                <a:solidFill>
                  <a:srgbClr val="0F172A"/>
                </a:solidFill>
              </a:defRPr>
            </a:pPr>
            <a:r>
              <a:t>Review available inputs and determine what information is relevant to the task.</a:t>
            </a:r>
          </a:p>
        </p:txBody>
      </p:sp>
      <p:sp>
        <p:nvSpPr>
          <p:cNvPr id="13" name="Rounded Rectangle 12"/>
          <p:cNvSpPr/>
          <p:nvPr/>
        </p:nvSpPr>
        <p:spPr>
          <a:xfrm>
            <a:off x="731520" y="2926080"/>
            <a:ext cx="527243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14400" y="3108960"/>
            <a:ext cx="100584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Stage 3</a:t>
            </a:r>
          </a:p>
        </p:txBody>
      </p:sp>
      <p:sp>
        <p:nvSpPr>
          <p:cNvPr id="15" name="TextBox 14"/>
          <p:cNvSpPr txBox="1"/>
          <p:nvPr/>
        </p:nvSpPr>
        <p:spPr>
          <a:xfrm>
            <a:off x="2011680" y="3063240"/>
            <a:ext cx="3749039" cy="1097280"/>
          </a:xfrm>
          <a:prstGeom prst="rect">
            <a:avLst/>
          </a:prstGeom>
          <a:noFill/>
        </p:spPr>
        <p:txBody>
          <a:bodyPr wrap="square">
            <a:spAutoFit/>
          </a:bodyPr>
          <a:lstStyle/>
          <a:p>
            <a:pPr>
              <a:spcAft>
                <a:spcPts val="400"/>
              </a:spcAft>
              <a:defRPr sz="1200" b="1">
                <a:solidFill>
                  <a:srgbClr val="1E3A8A"/>
                </a:solidFill>
              </a:defRPr>
            </a:pPr>
            <a:r>
              <a:t>Approach Planning</a:t>
            </a:r>
          </a:p>
          <a:p>
            <a:pPr>
              <a:defRPr sz="950">
                <a:solidFill>
                  <a:srgbClr val="0F172A"/>
                </a:solidFill>
              </a:defRPr>
            </a:pPr>
            <a:r>
              <a:t>Break the AI task into manageable steps and select an appropriate conceptual approach.</a:t>
            </a:r>
          </a:p>
        </p:txBody>
      </p:sp>
      <p:sp>
        <p:nvSpPr>
          <p:cNvPr id="16" name="Rounded Rectangle 15"/>
          <p:cNvSpPr/>
          <p:nvPr/>
        </p:nvSpPr>
        <p:spPr>
          <a:xfrm>
            <a:off x="6186830" y="2926080"/>
            <a:ext cx="527243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69710" y="3108960"/>
            <a:ext cx="100584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Stage 4</a:t>
            </a:r>
          </a:p>
        </p:txBody>
      </p:sp>
      <p:sp>
        <p:nvSpPr>
          <p:cNvPr id="18" name="TextBox 17"/>
          <p:cNvSpPr txBox="1"/>
          <p:nvPr/>
        </p:nvSpPr>
        <p:spPr>
          <a:xfrm>
            <a:off x="7466990" y="3063240"/>
            <a:ext cx="3749039" cy="1097280"/>
          </a:xfrm>
          <a:prstGeom prst="rect">
            <a:avLst/>
          </a:prstGeom>
          <a:noFill/>
        </p:spPr>
        <p:txBody>
          <a:bodyPr wrap="square">
            <a:spAutoFit/>
          </a:bodyPr>
          <a:lstStyle/>
          <a:p>
            <a:pPr>
              <a:spcAft>
                <a:spcPts val="400"/>
              </a:spcAft>
              <a:defRPr sz="1200" b="1">
                <a:solidFill>
                  <a:srgbClr val="1E3A8A"/>
                </a:solidFill>
              </a:defRPr>
            </a:pPr>
            <a:r>
              <a:t>Development / Training</a:t>
            </a:r>
          </a:p>
          <a:p>
            <a:pPr>
              <a:defRPr sz="950">
                <a:solidFill>
                  <a:srgbClr val="0F172A"/>
                </a:solidFill>
              </a:defRPr>
            </a:pPr>
            <a:r>
              <a:t>Complete assigned project or training activities according to instructions.</a:t>
            </a:r>
          </a:p>
        </p:txBody>
      </p:sp>
      <p:sp>
        <p:nvSpPr>
          <p:cNvPr id="19" name="Rounded Rectangle 18"/>
          <p:cNvSpPr/>
          <p:nvPr/>
        </p:nvSpPr>
        <p:spPr>
          <a:xfrm>
            <a:off x="731520" y="4480560"/>
            <a:ext cx="527243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4400" y="4663440"/>
            <a:ext cx="100584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Stage 5</a:t>
            </a:r>
          </a:p>
        </p:txBody>
      </p:sp>
      <p:sp>
        <p:nvSpPr>
          <p:cNvPr id="21" name="TextBox 20"/>
          <p:cNvSpPr txBox="1"/>
          <p:nvPr/>
        </p:nvSpPr>
        <p:spPr>
          <a:xfrm>
            <a:off x="2011680" y="4617720"/>
            <a:ext cx="3749039" cy="1097280"/>
          </a:xfrm>
          <a:prstGeom prst="rect">
            <a:avLst/>
          </a:prstGeom>
          <a:noFill/>
        </p:spPr>
        <p:txBody>
          <a:bodyPr wrap="square">
            <a:spAutoFit/>
          </a:bodyPr>
          <a:lstStyle/>
          <a:p>
            <a:pPr>
              <a:spcAft>
                <a:spcPts val="400"/>
              </a:spcAft>
              <a:defRPr sz="1200" b="1">
                <a:solidFill>
                  <a:srgbClr val="1E3A8A"/>
                </a:solidFill>
              </a:defRPr>
            </a:pPr>
            <a:r>
              <a:t>Testing and Evaluation</a:t>
            </a:r>
          </a:p>
          <a:p>
            <a:pPr>
              <a:defRPr sz="950">
                <a:solidFill>
                  <a:srgbClr val="0F172A"/>
                </a:solidFill>
              </a:defRPr>
            </a:pPr>
            <a:r>
              <a:t>Review outputs, identify errors, and assess performance against the task objective.</a:t>
            </a:r>
          </a:p>
        </p:txBody>
      </p:sp>
      <p:sp>
        <p:nvSpPr>
          <p:cNvPr id="22" name="Rounded Rectangle 21"/>
          <p:cNvSpPr/>
          <p:nvPr/>
        </p:nvSpPr>
        <p:spPr>
          <a:xfrm>
            <a:off x="6186830" y="4480560"/>
            <a:ext cx="527243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69710" y="4663440"/>
            <a:ext cx="100584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Stage 6</a:t>
            </a:r>
          </a:p>
        </p:txBody>
      </p:sp>
      <p:sp>
        <p:nvSpPr>
          <p:cNvPr id="24" name="TextBox 23"/>
          <p:cNvSpPr txBox="1"/>
          <p:nvPr/>
        </p:nvSpPr>
        <p:spPr>
          <a:xfrm>
            <a:off x="7466990" y="4617720"/>
            <a:ext cx="3749039" cy="1097280"/>
          </a:xfrm>
          <a:prstGeom prst="rect">
            <a:avLst/>
          </a:prstGeom>
          <a:noFill/>
        </p:spPr>
        <p:txBody>
          <a:bodyPr wrap="square">
            <a:spAutoFit/>
          </a:bodyPr>
          <a:lstStyle/>
          <a:p>
            <a:pPr>
              <a:spcAft>
                <a:spcPts val="400"/>
              </a:spcAft>
              <a:defRPr sz="1200" b="1">
                <a:solidFill>
                  <a:srgbClr val="1E3A8A"/>
                </a:solidFill>
              </a:defRPr>
            </a:pPr>
            <a:r>
              <a:t>Review &amp; Documentation</a:t>
            </a:r>
          </a:p>
          <a:p>
            <a:pPr>
              <a:defRPr sz="950">
                <a:solidFill>
                  <a:srgbClr val="0F172A"/>
                </a:solidFill>
              </a:defRPr>
            </a:pPr>
            <a:r>
              <a:t>Use supervisor feedback and record approach, observations, learning, and outcomes.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82880"/>
          <a:lstStyle/>
          <a:p>
            <a:pPr algn="ctr">
              <a:defRPr sz="2200" b="1">
                <a:solidFill>
                  <a:srgbClr val="FFFFFF"/>
                </a:solidFill>
              </a:defRPr>
            </a:pPr>
            <a:r>
              <a:t>EXPECTED OUTCOMES</a:t>
            </a:r>
          </a:p>
        </p:txBody>
      </p:sp>
      <p:sp>
        <p:nvSpPr>
          <p:cNvPr id="3" name="TextBox 2"/>
          <p:cNvSpPr txBox="1"/>
          <p:nvPr/>
        </p:nvSpPr>
        <p:spPr>
          <a:xfrm>
            <a:off x="7772400" y="182880"/>
            <a:ext cx="3840480" cy="640080"/>
          </a:xfrm>
          <a:prstGeom prst="rect">
            <a:avLst/>
          </a:prstGeom>
          <a:noFill/>
        </p:spPr>
        <p:txBody>
          <a:bodyPr wrap="none">
            <a:spAutoFit/>
          </a:bodyPr>
          <a:lstStyle/>
          <a:p>
            <a:pPr algn="r">
              <a:defRPr sz="1100" b="1">
                <a:solidFill>
                  <a:srgbClr val="BFDBFE"/>
                </a:solidFill>
              </a:defRPr>
            </a:pPr>
            <a:r>
              <a:t>IILM UNIVERSITY | CODEC TECHNOLOGIES</a:t>
            </a:r>
          </a:p>
        </p:txBody>
      </p:sp>
      <p:sp>
        <p:nvSpPr>
          <p:cNvPr id="4" name="Rectangle 3"/>
          <p:cNvSpPr/>
          <p:nvPr/>
        </p:nvSpPr>
        <p:spPr>
          <a:xfrm>
            <a:off x="731520" y="62179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63640"/>
            <a:ext cx="7315200" cy="365760"/>
          </a:xfrm>
          <a:prstGeom prst="rect">
            <a:avLst/>
          </a:prstGeom>
          <a:noFill/>
        </p:spPr>
        <p:txBody>
          <a:bodyPr wrap="none">
            <a:spAutoFit/>
          </a:bodyPr>
          <a:lstStyle/>
          <a:p>
            <a:pPr>
              <a:defRPr sz="1000">
                <a:solidFill>
                  <a:srgbClr val="64748B"/>
                </a:solidFill>
              </a:defRPr>
            </a:pPr>
            <a:r>
              <a:t>Artificial Intelligence Internship  •  Sahil Singh</a:t>
            </a:r>
          </a:p>
        </p:txBody>
      </p:sp>
      <p:sp>
        <p:nvSpPr>
          <p:cNvPr id="6" name="TextBox 5"/>
          <p:cNvSpPr txBox="1"/>
          <p:nvPr/>
        </p:nvSpPr>
        <p:spPr>
          <a:xfrm>
            <a:off x="9631375" y="6263640"/>
            <a:ext cx="1828800" cy="365760"/>
          </a:xfrm>
          <a:prstGeom prst="rect">
            <a:avLst/>
          </a:prstGeom>
          <a:noFill/>
        </p:spPr>
        <p:txBody>
          <a:bodyPr wrap="none">
            <a:spAutoFit/>
          </a:bodyPr>
          <a:lstStyle/>
          <a:p>
            <a:pPr algn="r">
              <a:defRPr sz="1000" b="1">
                <a:solidFill>
                  <a:srgbClr val="2563EB"/>
                </a:solidFill>
              </a:defRPr>
            </a:pPr>
            <a:r>
              <a:t>08</a:t>
            </a:r>
          </a:p>
        </p:txBody>
      </p:sp>
      <p:sp>
        <p:nvSpPr>
          <p:cNvPr id="7" name="Rounded Rectangle 6"/>
          <p:cNvSpPr/>
          <p:nvPr/>
        </p:nvSpPr>
        <p:spPr>
          <a:xfrm>
            <a:off x="731520" y="1280160"/>
            <a:ext cx="10728655"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1399031"/>
            <a:ext cx="329184" cy="3291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t>
            </a:r>
          </a:p>
        </p:txBody>
      </p:sp>
      <p:sp>
        <p:nvSpPr>
          <p:cNvPr id="9" name="TextBox 8"/>
          <p:cNvSpPr txBox="1"/>
          <p:nvPr/>
        </p:nvSpPr>
        <p:spPr>
          <a:xfrm>
            <a:off x="1371600" y="1389888"/>
            <a:ext cx="9875520" cy="365760"/>
          </a:xfrm>
          <a:prstGeom prst="rect">
            <a:avLst/>
          </a:prstGeom>
          <a:noFill/>
        </p:spPr>
        <p:txBody>
          <a:bodyPr wrap="square">
            <a:spAutoFit/>
          </a:bodyPr>
          <a:lstStyle/>
          <a:p>
            <a:pPr>
              <a:defRPr sz="1100">
                <a:solidFill>
                  <a:srgbClr val="0F172A"/>
                </a:solidFill>
              </a:defRPr>
            </a:pPr>
            <a:r>
              <a:t>Better understanding of Artificial Intelligence as an applied area of Computer Science.</a:t>
            </a:r>
          </a:p>
        </p:txBody>
      </p:sp>
      <p:sp>
        <p:nvSpPr>
          <p:cNvPr id="10" name="Rounded Rectangle 9"/>
          <p:cNvSpPr/>
          <p:nvPr/>
        </p:nvSpPr>
        <p:spPr>
          <a:xfrm>
            <a:off x="731520" y="1938528"/>
            <a:ext cx="10728655"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4400" y="2057400"/>
            <a:ext cx="329184" cy="3291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t>
            </a:r>
          </a:p>
        </p:txBody>
      </p:sp>
      <p:sp>
        <p:nvSpPr>
          <p:cNvPr id="12" name="TextBox 11"/>
          <p:cNvSpPr txBox="1"/>
          <p:nvPr/>
        </p:nvSpPr>
        <p:spPr>
          <a:xfrm>
            <a:off x="1371600" y="2048256"/>
            <a:ext cx="9875520" cy="365760"/>
          </a:xfrm>
          <a:prstGeom prst="rect">
            <a:avLst/>
          </a:prstGeom>
          <a:noFill/>
        </p:spPr>
        <p:txBody>
          <a:bodyPr wrap="square">
            <a:spAutoFit/>
          </a:bodyPr>
          <a:lstStyle/>
          <a:p>
            <a:pPr>
              <a:defRPr sz="1100">
                <a:solidFill>
                  <a:srgbClr val="0F172A"/>
                </a:solidFill>
              </a:defRPr>
            </a:pPr>
            <a:r>
              <a:t>Improved ability to break AI-related tasks into logical stages and workflow steps.</a:t>
            </a:r>
          </a:p>
        </p:txBody>
      </p:sp>
      <p:sp>
        <p:nvSpPr>
          <p:cNvPr id="13" name="Rounded Rectangle 12"/>
          <p:cNvSpPr/>
          <p:nvPr/>
        </p:nvSpPr>
        <p:spPr>
          <a:xfrm>
            <a:off x="731520" y="2596896"/>
            <a:ext cx="10728655"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2715768"/>
            <a:ext cx="329184" cy="3291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t>
            </a:r>
          </a:p>
        </p:txBody>
      </p:sp>
      <p:sp>
        <p:nvSpPr>
          <p:cNvPr id="15" name="TextBox 14"/>
          <p:cNvSpPr txBox="1"/>
          <p:nvPr/>
        </p:nvSpPr>
        <p:spPr>
          <a:xfrm>
            <a:off x="1371600" y="2706624"/>
            <a:ext cx="9875520" cy="365760"/>
          </a:xfrm>
          <a:prstGeom prst="rect">
            <a:avLst/>
          </a:prstGeom>
          <a:noFill/>
        </p:spPr>
        <p:txBody>
          <a:bodyPr wrap="square">
            <a:spAutoFit/>
          </a:bodyPr>
          <a:lstStyle/>
          <a:p>
            <a:pPr>
              <a:defRPr sz="1100">
                <a:solidFill>
                  <a:srgbClr val="0F172A"/>
                </a:solidFill>
              </a:defRPr>
            </a:pPr>
            <a:r>
              <a:t>Greater awareness of data quality, evaluation, iteration, and responsible AI practices.</a:t>
            </a:r>
          </a:p>
        </p:txBody>
      </p:sp>
      <p:sp>
        <p:nvSpPr>
          <p:cNvPr id="16" name="Rounded Rectangle 15"/>
          <p:cNvSpPr/>
          <p:nvPr/>
        </p:nvSpPr>
        <p:spPr>
          <a:xfrm>
            <a:off x="731520" y="3255264"/>
            <a:ext cx="10728655"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3374136"/>
            <a:ext cx="329184" cy="3291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t>
            </a:r>
          </a:p>
        </p:txBody>
      </p:sp>
      <p:sp>
        <p:nvSpPr>
          <p:cNvPr id="18" name="TextBox 17"/>
          <p:cNvSpPr txBox="1"/>
          <p:nvPr/>
        </p:nvSpPr>
        <p:spPr>
          <a:xfrm>
            <a:off x="1371600" y="3364992"/>
            <a:ext cx="9875520" cy="365760"/>
          </a:xfrm>
          <a:prstGeom prst="rect">
            <a:avLst/>
          </a:prstGeom>
          <a:noFill/>
        </p:spPr>
        <p:txBody>
          <a:bodyPr wrap="square">
            <a:spAutoFit/>
          </a:bodyPr>
          <a:lstStyle/>
          <a:p>
            <a:pPr>
              <a:defRPr sz="1100">
                <a:solidFill>
                  <a:srgbClr val="0F172A"/>
                </a:solidFill>
              </a:defRPr>
            </a:pPr>
            <a:r>
              <a:t>Improved analytical thinking and problem-solving skills across AI domains.</a:t>
            </a:r>
          </a:p>
        </p:txBody>
      </p:sp>
      <p:sp>
        <p:nvSpPr>
          <p:cNvPr id="19" name="Rounded Rectangle 18"/>
          <p:cNvSpPr/>
          <p:nvPr/>
        </p:nvSpPr>
        <p:spPr>
          <a:xfrm>
            <a:off x="731520" y="3913631"/>
            <a:ext cx="10728655"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4032503"/>
            <a:ext cx="329184" cy="3291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t>
            </a:r>
          </a:p>
        </p:txBody>
      </p:sp>
      <p:sp>
        <p:nvSpPr>
          <p:cNvPr id="21" name="TextBox 20"/>
          <p:cNvSpPr txBox="1"/>
          <p:nvPr/>
        </p:nvSpPr>
        <p:spPr>
          <a:xfrm>
            <a:off x="1371600" y="4023359"/>
            <a:ext cx="9875520" cy="365760"/>
          </a:xfrm>
          <a:prstGeom prst="rect">
            <a:avLst/>
          </a:prstGeom>
          <a:noFill/>
        </p:spPr>
        <p:txBody>
          <a:bodyPr wrap="square">
            <a:spAutoFit/>
          </a:bodyPr>
          <a:lstStyle/>
          <a:p>
            <a:pPr>
              <a:defRPr sz="1100">
                <a:solidFill>
                  <a:srgbClr val="0F172A"/>
                </a:solidFill>
              </a:defRPr>
            </a:pPr>
            <a:r>
              <a:t>Improved professional technical communication, documentation, and reporting skills.</a:t>
            </a:r>
          </a:p>
        </p:txBody>
      </p:sp>
      <p:sp>
        <p:nvSpPr>
          <p:cNvPr id="22" name="Rounded Rectangle 21"/>
          <p:cNvSpPr/>
          <p:nvPr/>
        </p:nvSpPr>
        <p:spPr>
          <a:xfrm>
            <a:off x="731520" y="4572000"/>
            <a:ext cx="10728655"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4400" y="4690872"/>
            <a:ext cx="329184" cy="3291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t>
            </a:r>
          </a:p>
        </p:txBody>
      </p:sp>
      <p:sp>
        <p:nvSpPr>
          <p:cNvPr id="24" name="TextBox 23"/>
          <p:cNvSpPr txBox="1"/>
          <p:nvPr/>
        </p:nvSpPr>
        <p:spPr>
          <a:xfrm>
            <a:off x="1371600" y="4681728"/>
            <a:ext cx="9875520" cy="365760"/>
          </a:xfrm>
          <a:prstGeom prst="rect">
            <a:avLst/>
          </a:prstGeom>
          <a:noFill/>
        </p:spPr>
        <p:txBody>
          <a:bodyPr wrap="square">
            <a:spAutoFit/>
          </a:bodyPr>
          <a:lstStyle/>
          <a:p>
            <a:pPr>
              <a:defRPr sz="1100">
                <a:solidFill>
                  <a:srgbClr val="0F172A"/>
                </a:solidFill>
              </a:defRPr>
            </a:pPr>
            <a:r>
              <a:t>Exposure to an industry-oriented hybrid internship environment with supervisor reviews.</a:t>
            </a:r>
          </a:p>
        </p:txBody>
      </p:sp>
      <p:sp>
        <p:nvSpPr>
          <p:cNvPr id="25" name="Rounded Rectangle 24"/>
          <p:cNvSpPr/>
          <p:nvPr/>
        </p:nvSpPr>
        <p:spPr>
          <a:xfrm>
            <a:off x="731520" y="5230368"/>
            <a:ext cx="10728655"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5349240"/>
            <a:ext cx="329184" cy="3291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t>
            </a:r>
          </a:p>
        </p:txBody>
      </p:sp>
      <p:sp>
        <p:nvSpPr>
          <p:cNvPr id="27" name="TextBox 26"/>
          <p:cNvSpPr txBox="1"/>
          <p:nvPr/>
        </p:nvSpPr>
        <p:spPr>
          <a:xfrm>
            <a:off x="1371600" y="5340096"/>
            <a:ext cx="9875520" cy="365760"/>
          </a:xfrm>
          <a:prstGeom prst="rect">
            <a:avLst/>
          </a:prstGeom>
          <a:noFill/>
        </p:spPr>
        <p:txBody>
          <a:bodyPr wrap="square">
            <a:spAutoFit/>
          </a:bodyPr>
          <a:lstStyle/>
          <a:p>
            <a:pPr>
              <a:defRPr sz="1100">
                <a:solidFill>
                  <a:srgbClr val="0F172A"/>
                </a:solidFill>
              </a:defRPr>
            </a:pPr>
            <a:r>
              <a:t>Greater confidence in connecting academic Computer Science learning with practical AI practice.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tIns="182880"/>
          <a:lstStyle/>
          <a:p>
            <a:pPr algn="ctr">
              <a:defRPr sz="2200" b="1">
                <a:solidFill>
                  <a:srgbClr val="FFFFFF"/>
                </a:solidFill>
              </a:defRPr>
            </a:pPr>
            <a:r>
              <a:t>CERTIFICATION</a:t>
            </a:r>
          </a:p>
        </p:txBody>
      </p:sp>
      <p:sp>
        <p:nvSpPr>
          <p:cNvPr id="3" name="TextBox 2"/>
          <p:cNvSpPr txBox="1"/>
          <p:nvPr/>
        </p:nvSpPr>
        <p:spPr>
          <a:xfrm>
            <a:off x="7772400" y="182880"/>
            <a:ext cx="3840480" cy="640080"/>
          </a:xfrm>
          <a:prstGeom prst="rect">
            <a:avLst/>
          </a:prstGeom>
          <a:noFill/>
        </p:spPr>
        <p:txBody>
          <a:bodyPr wrap="none">
            <a:spAutoFit/>
          </a:bodyPr>
          <a:lstStyle/>
          <a:p>
            <a:pPr algn="r">
              <a:defRPr sz="1100" b="1">
                <a:solidFill>
                  <a:srgbClr val="BFDBFE"/>
                </a:solidFill>
              </a:defRPr>
            </a:pPr>
            <a:r>
              <a:t>IILM UNIVERSITY | CODEC TECHNOLOGIES</a:t>
            </a:r>
          </a:p>
        </p:txBody>
      </p:sp>
      <p:sp>
        <p:nvSpPr>
          <p:cNvPr id="4" name="Rectangle 3"/>
          <p:cNvSpPr/>
          <p:nvPr/>
        </p:nvSpPr>
        <p:spPr>
          <a:xfrm>
            <a:off x="731520" y="62179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63640"/>
            <a:ext cx="7315200" cy="365760"/>
          </a:xfrm>
          <a:prstGeom prst="rect">
            <a:avLst/>
          </a:prstGeom>
          <a:noFill/>
        </p:spPr>
        <p:txBody>
          <a:bodyPr wrap="none">
            <a:spAutoFit/>
          </a:bodyPr>
          <a:lstStyle/>
          <a:p>
            <a:pPr>
              <a:defRPr sz="1000">
                <a:solidFill>
                  <a:srgbClr val="64748B"/>
                </a:solidFill>
              </a:defRPr>
            </a:pPr>
            <a:r>
              <a:t>Artificial Intelligence Internship  •  Sahil Singh</a:t>
            </a:r>
          </a:p>
        </p:txBody>
      </p:sp>
      <p:sp>
        <p:nvSpPr>
          <p:cNvPr id="6" name="TextBox 5"/>
          <p:cNvSpPr txBox="1"/>
          <p:nvPr/>
        </p:nvSpPr>
        <p:spPr>
          <a:xfrm>
            <a:off x="9631375" y="6263640"/>
            <a:ext cx="1828800" cy="365760"/>
          </a:xfrm>
          <a:prstGeom prst="rect">
            <a:avLst/>
          </a:prstGeom>
          <a:noFill/>
        </p:spPr>
        <p:txBody>
          <a:bodyPr wrap="none">
            <a:spAutoFit/>
          </a:bodyPr>
          <a:lstStyle/>
          <a:p>
            <a:pPr algn="r">
              <a:defRPr sz="1000" b="1">
                <a:solidFill>
                  <a:srgbClr val="2563EB"/>
                </a:solidFill>
              </a:defRPr>
            </a:pPr>
            <a:r>
              <a:t>09</a:t>
            </a:r>
          </a:p>
        </p:txBody>
      </p:sp>
      <p:sp>
        <p:nvSpPr>
          <p:cNvPr id="7" name="Rounded Rectangle 6"/>
          <p:cNvSpPr/>
          <p:nvPr/>
        </p:nvSpPr>
        <p:spPr>
          <a:xfrm>
            <a:off x="731520" y="1280160"/>
            <a:ext cx="38404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3474720" cy="4297680"/>
          </a:xfrm>
          <a:prstGeom prst="rect">
            <a:avLst/>
          </a:prstGeom>
          <a:noFill/>
        </p:spPr>
        <p:txBody>
          <a:bodyPr wrap="square">
            <a:spAutoFit/>
          </a:bodyPr>
          <a:lstStyle/>
          <a:p>
            <a:pPr>
              <a:spcAft>
                <a:spcPts val="2000"/>
              </a:spcAft>
              <a:defRPr sz="1400" b="1">
                <a:solidFill>
                  <a:srgbClr val="10B981"/>
                </a:solidFill>
              </a:defRPr>
            </a:pPr>
            <a:r>
              <a:t>Successfully Completed</a:t>
            </a:r>
          </a:p>
          <a:p>
            <a:pPr>
              <a:spcAft>
                <a:spcPts val="1200"/>
              </a:spcAft>
              <a:defRPr sz="1000">
                <a:solidFill>
                  <a:srgbClr val="64748B"/>
                </a:solidFill>
              </a:defRPr>
            </a:pPr>
            <a:r>
              <a:t>Designation:</a:t>
            </a:r>
            <a:br/>
            <a:r>
              <a:rPr sz="1100" b="1">
                <a:solidFill>
                  <a:srgbClr val="1E3A8A"/>
                </a:solidFill>
              </a:rPr>
              <a:t>Artificial Intelligence Intern</a:t>
            </a:r>
          </a:p>
          <a:p>
            <a:pPr>
              <a:spcAft>
                <a:spcPts val="1200"/>
              </a:spcAft>
              <a:defRPr sz="1000">
                <a:solidFill>
                  <a:srgbClr val="64748B"/>
                </a:solidFill>
              </a:defRPr>
            </a:pPr>
            <a:r>
              <a:t>Issuing Organization:</a:t>
            </a:r>
            <a:br/>
            <a:r>
              <a:rPr sz="1100" b="1">
                <a:solidFill>
                  <a:srgbClr val="1E3A8A"/>
                </a:solidFill>
              </a:rPr>
              <a:t>Codec Technologies Pvt. Ltd.</a:t>
            </a:r>
          </a:p>
          <a:p>
            <a:pPr>
              <a:spcAft>
                <a:spcPts val="1200"/>
              </a:spcAft>
              <a:defRPr sz="1000">
                <a:solidFill>
                  <a:srgbClr val="64748B"/>
                </a:solidFill>
              </a:defRPr>
            </a:pPr>
            <a:r>
              <a:t>Program Status:</a:t>
            </a:r>
            <a:br/>
            <a:r>
              <a:rPr sz="1100" b="1">
                <a:solidFill>
                  <a:srgbClr val="1E3A8A"/>
                </a:solidFill>
              </a:rPr>
              <a:t>AICTE &amp; ICAC Approved Program</a:t>
            </a:r>
          </a:p>
          <a:p>
            <a:pPr>
              <a:spcAft>
                <a:spcPts val="1200"/>
              </a:spcAft>
              <a:defRPr sz="1000">
                <a:solidFill>
                  <a:srgbClr val="64748B"/>
                </a:solidFill>
              </a:defRPr>
            </a:pPr>
            <a:r>
              <a:t>Duration:</a:t>
            </a:r>
            <a:br/>
            <a:r>
              <a:rPr sz="1100" b="1">
                <a:solidFill>
                  <a:srgbClr val="1E3A8A"/>
                </a:solidFill>
              </a:rPr>
              <a:t>1 Month</a:t>
            </a:r>
          </a:p>
          <a:p>
            <a:pPr>
              <a:spcAft>
                <a:spcPts val="1200"/>
              </a:spcAft>
              <a:defRPr sz="1000">
                <a:solidFill>
                  <a:srgbClr val="64748B"/>
                </a:solidFill>
              </a:defRPr>
            </a:pPr>
            <a:r>
              <a:t>Internship Period:</a:t>
            </a:r>
            <a:br/>
            <a:r>
              <a:rPr sz="1100" b="1">
                <a:solidFill>
                  <a:srgbClr val="1E3A8A"/>
                </a:solidFill>
              </a:rPr>
              <a:t>19/06/2026 – 19/07/2026</a:t>
            </a:r>
          </a:p>
        </p:txBody>
      </p:sp>
      <p:sp>
        <p:nvSpPr>
          <p:cNvPr id="9" name="Rounded Rectangle 8"/>
          <p:cNvSpPr/>
          <p:nvPr/>
        </p:nvSpPr>
        <p:spPr>
          <a:xfrm>
            <a:off x="4846320" y="1280160"/>
            <a:ext cx="6613855" cy="4663440"/>
          </a:xfrm>
          <a:prstGeom prst="roundRect">
            <a:avLst/>
          </a:prstGeom>
          <a:solidFill>
            <a:srgbClr val="FFFDF5"/>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1554480"/>
            <a:ext cx="6065215" cy="4114800"/>
          </a:xfrm>
          <a:prstGeom prst="rect">
            <a:avLst/>
          </a:prstGeom>
          <a:noFill/>
        </p:spPr>
        <p:txBody>
          <a:bodyPr wrap="square">
            <a:spAutoFit/>
          </a:bodyPr>
          <a:lstStyle/>
          <a:p>
            <a:pPr algn="ctr">
              <a:spcAft>
                <a:spcPts val="1500"/>
              </a:spcAft>
              <a:defRPr sz="2000" b="1">
                <a:solidFill>
                  <a:srgbClr val="B45309"/>
                </a:solidFill>
              </a:defRPr>
            </a:pPr>
            <a:r>
              <a:t>CERTIFICATE OF INTERNSHIP</a:t>
            </a:r>
          </a:p>
          <a:p>
            <a:pPr algn="ctr">
              <a:defRPr sz="1100">
                <a:solidFill>
                  <a:srgbClr val="64748B"/>
                </a:solidFill>
              </a:defRPr>
            </a:pPr>
            <a:r>
              <a:t>This certifies that</a:t>
            </a:r>
          </a:p>
          <a:p>
            <a:pPr algn="ctr">
              <a:spcAft>
                <a:spcPts val="1000"/>
              </a:spcAft>
              <a:defRPr sz="2200" b="1">
                <a:solidFill>
                  <a:srgbClr val="1E3A8A"/>
                </a:solidFill>
              </a:defRPr>
            </a:pPr>
            <a:r>
              <a:t>SAHIL SINGH</a:t>
            </a:r>
          </a:p>
          <a:p>
            <a:pPr algn="ctr">
              <a:spcAft>
                <a:spcPts val="1000"/>
              </a:spcAft>
              <a:defRPr sz="1300">
                <a:solidFill>
                  <a:srgbClr val="0F172A"/>
                </a:solidFill>
              </a:defRPr>
            </a:pPr>
            <a:r>
              <a:t>has successfully completed the 1-month</a:t>
            </a:r>
            <a:br/>
            <a:r>
              <a:t>Artificial Intelligence Internship</a:t>
            </a:r>
          </a:p>
          <a:p>
            <a:pPr algn="ctr">
              <a:spcAft>
                <a:spcPts val="2500"/>
              </a:spcAft>
              <a:defRPr sz="1200" b="1">
                <a:solidFill>
                  <a:srgbClr val="2563EB"/>
                </a:solidFill>
              </a:defRPr>
            </a:pPr>
            <a:r>
              <a:t>19 June 2026 – 19 July 2026</a:t>
            </a:r>
          </a:p>
          <a:p>
            <a:pPr algn="ctr">
              <a:defRPr sz="1100" b="1">
                <a:solidFill>
                  <a:srgbClr val="64748B"/>
                </a:solidFill>
              </a:defRPr>
            </a:pPr>
            <a:r>
              <a:t>Codec Technologies Pvt. Ltd.  |  Google for Education Partner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448495" cy="3200400"/>
          </a:xfrm>
          <a:prstGeom prst="rect">
            <a:avLst/>
          </a:prstGeom>
          <a:noFill/>
        </p:spPr>
        <p:txBody>
          <a:bodyPr wrap="square">
            <a:spAutoFit/>
          </a:bodyPr>
          <a:lstStyle/>
          <a:p>
            <a:pPr algn="ctr">
              <a:spcAft>
                <a:spcPts val="1500"/>
              </a:spcAft>
              <a:defRPr sz="4400" b="1">
                <a:solidFill>
                  <a:srgbClr val="FFFFFF"/>
                </a:solidFill>
              </a:defRPr>
            </a:pPr>
            <a:r>
              <a:t>Thank You</a:t>
            </a:r>
          </a:p>
          <a:p>
            <a:pPr algn="ctr">
              <a:spcAft>
                <a:spcPts val="3000"/>
              </a:spcAft>
              <a:defRPr sz="1600">
                <a:solidFill>
                  <a:srgbClr val="93C5FD"/>
                </a:solidFill>
              </a:defRPr>
            </a:pPr>
            <a:r>
              <a:t>Artificial Intelligence Internship  |  AICTE – ICAC Approved Program</a:t>
            </a:r>
          </a:p>
          <a:p>
            <a:pPr algn="ctr">
              <a:defRPr sz="2200" b="1">
                <a:solidFill>
                  <a:srgbClr val="FFFFFF"/>
                </a:solidFill>
              </a:defRPr>
            </a:pPr>
            <a:r>
              <a:t>Sahil Singh</a:t>
            </a:r>
          </a:p>
          <a:p>
            <a:pPr algn="ctr">
              <a:defRPr sz="1300">
                <a:solidFill>
                  <a:srgbClr val="94A3B8"/>
                </a:solidFill>
              </a:defRPr>
            </a:pPr>
            <a:r>
              <a:t>Roll No. 25SCS1003003669  |  IILM University, Greater Noida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